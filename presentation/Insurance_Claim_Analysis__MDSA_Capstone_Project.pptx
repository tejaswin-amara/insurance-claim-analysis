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We're here today to present our MDSA Capstone Project on Insurance Claim Analysis. This project applies a comprehensive suite of mathematical and statistical techniques to a real-world insurance dataset. We'll demonstrate how these methods provide actionable insights for risk assessment and premium pricing.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primary objective is to analyze medical charges and identify key risk factors that drive insurance claims. This understanding is crucial for insurers to mitigate high-risk exposures and maintain financial stability. We're working with a Kaggle dataset of 1,338 insurance records, focusing on seven key features. We've already ensured data integrity by handling missing values and duplicates, and we've identified significant outliers in the 'charges' column. Now, let's look at the structured approach we took to achieve these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methodology systematically maps each phase of the project to specific Course Outcomes, ensuring a rigorous and comprehensive analysis. From data preprocessing and descriptive statistics to advanced analytics, we've applied a range of techniques. This structured approach allows us to build a robust model and derive statistically sound conclusions. We'll begin by detailing our data preprocessing steps, which align with CO1.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preprocessing is foundational for any robust analysis, and our initial steps focused on ensuring data quality. We loaded our dataset, confirmed its shape, and addressed data integrity issues by removing one duplicate record. Crucially, we identified 139 outliers in the 'charges' column using the Interquartile Range method. These high-cost outliers are not errors; they represent extreme medical claims that demand careful consideration in our modeling. Next, we'll delve into the descriptive statistics of these charges, aligning with CO2.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descriptive statistics for medical charges reveal a strongly right-skewed distribution, a critical insight for understanding claim patterns. The mean charge significantly exceeds the median, indicating that a subset of high-cost claims heavily influences the average. This high variability, evidenced by a large standard deviation, underscores the need for precise risk assessment. This right-skewed, leptokurtic distribution, with its heavy tails, confirms the presence of extreme medical costs. We'll now explore how probability theory helps us quantify these risk factors, which falls under CO3.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descriptive analysis, we now quantify the likelihood of high-cost events. Here, we define a high charge as anything above the third quartile, which is over sixteen thousand dollars. We then apply Bayes' Theorem to verify the conditional probabilities of smoking given a high charge, and a high charge given smoking. This confirms the mathematical consistency of our risk factor assessment, showing a strong relationship between smoking and high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probability analysis, we move to statistical inference to formally test our assumptions. We used the Central Limit Theorem to construct a 95% confidence interval for the population mean of charges. Our hypothesis test, comparing charges for smokers versus non-smokers, yielded a highly significant p-value, leading us to reject the null hypothesis. This definitively shows that smoking status is a statistically significant driver of medical costs, with smokers incurring nearly four times higher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quantify the linear relationships between our risk factors and medical charges. Our Pearson correlation analysis clearly shows smoking status as the dominant linear predictor, with a strong positive correlation. While age also shows a positive correlation, a simple linear regression model with age explains less than nine percent of the variance in charges. This indicates that age alone is insufficient for robust prediction, and other factors are at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beyond simple linear relationships, our multiple linear regression model provides a much more comprehensive understanding. This model, built on an 80/20 train-test split, achieves an R-squared score of nearly seventy-eight percent, indicating strong predictive power. The feature coefficients reveal that smoking is by far the most impactful factor, adding over twenty-three thousand dollars to charges. This model allows us to predict charges with a reasonable average error, which is crucial for accurate premium pricing.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visual analysis of risk clustering reinforces the quantitative findings from our regression model, clearly demonstrating the compounding effects of key risk factors. We observe distinct cost clusters: non-smokers consistently exhibit low charges, while smokers with higher BMI values show a dramatic escalation in medical costs. The boxplots further quantify this, revealing that the median charge for smokers is 4.5 times higher than for non-smokers, underscoring smoking's profound impact on insurance claims. These visual insights provide a compelling foundation for our strategic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visual insights, our analysis firmly establishes smoking as the predominant risk factor, with age and BMI significantly exacerbating costs, particularly in combination. The robustness of our multiple linear regression model, explaining 78.3% of premium variance, provides a strong basis for data-driven underwriting decisions. We recommend implementing tiered pricing with substantial surcharges for smokers and offering wellness incentives for BMI reduction and smoking cessation to mitigate risk. Our future work will explore non-linear models and real-time pricing applications to further refine these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presented a comprehensive analysis of insurance claims, identifying key risk factors and proposing data-driven strategies for premium pricing and risk mitigation. All code scripts, statistical outputs, and visualizations are available in our project repository for your review. We appreciate your time and welcome any questions regarding our methodology or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1000125" y="1563114"/>
            <a:ext cx="7143750" cy="565779"/>
          </a:xfrm>
          <a:prstGeom prst="rect">
            <a:avLst/>
          </a:prstGeom>
          <a:noFill/>
          <a:ln/>
        </p:spPr>
        <p:txBody>
          <a:bodyPr wrap="none" lIns="0" tIns="0" rIns="0" bIns="0" rtlCol="0" anchor="t">
            <a:spAutoFit/>
          </a:bodyPr>
          <a:lstStyle/>
          <a:p>
            <a:pPr algn="ctr" indent="0" marL="0">
              <a:lnSpc>
                <a:spcPct val="88000"/>
              </a:lnSpc>
              <a:buNone/>
            </a:pPr>
            <a:r>
              <a:rPr lang="en-US" sz="3750" b="1" spc="-2" kern="0" dirty="0">
                <a:solidFill>
                  <a:srgbClr val="64FFDA"/>
                </a:solidFill>
                <a:latin typeface="Inter Black" pitchFamily="34" charset="0"/>
                <a:ea typeface="Inter Black" pitchFamily="34" charset="-122"/>
                <a:cs typeface="Inter Black" pitchFamily="34" charset="-120"/>
              </a:rPr>
              <a:t>Insurance Claim Analysis</a:t>
            </a:r>
            <a:endParaRPr lang="en-US" sz="3750" dirty="0"/>
          </a:p>
        </p:txBody>
      </p:sp>
      <p:sp>
        <p:nvSpPr>
          <p:cNvPr id="5" name="Text 1"/>
          <p:cNvSpPr/>
          <p:nvPr/>
        </p:nvSpPr>
        <p:spPr>
          <a:xfrm>
            <a:off x="1000125" y="2271182"/>
            <a:ext cx="7143750" cy="414338"/>
          </a:xfrm>
          <a:prstGeom prst="rect">
            <a:avLst/>
          </a:prstGeom>
          <a:noFill/>
          <a:ln/>
        </p:spPr>
        <p:txBody>
          <a:bodyPr wrap="square" lIns="0" tIns="0" rIns="0" bIns="0" rtlCol="0" anchor="t">
            <a:spAutoFit/>
          </a:bodyPr>
          <a:lstStyle/>
          <a:p>
            <a:pPr algn="ctr" indent="0" marL="0">
              <a:buNone/>
            </a:pPr>
            <a:r>
              <a:rPr lang="en-US" sz="1250" spc="2" kern="0" dirty="0">
                <a:solidFill>
                  <a:srgbClr val="8892B0"/>
                </a:solidFill>
                <a:latin typeface="Inter" pitchFamily="34" charset="0"/>
                <a:ea typeface="Inter" pitchFamily="34" charset="-122"/>
                <a:cs typeface="Inter" pitchFamily="34" charset="-120"/>
              </a:rPr>
              <a:t>MDSA CAPSTONE PROJECT | MATHEMATICS FOR DATA SCIENCE AND ANALYTICS</a:t>
            </a:r>
            <a:endParaRPr lang="en-US" sz="1250" dirty="0"/>
          </a:p>
        </p:txBody>
      </p:sp>
      <p:sp>
        <p:nvSpPr>
          <p:cNvPr id="6" name="Text 2"/>
          <p:cNvSpPr/>
          <p:nvPr/>
        </p:nvSpPr>
        <p:spPr>
          <a:xfrm>
            <a:off x="1000125" y="2971270"/>
            <a:ext cx="7143750" cy="312539"/>
          </a:xfrm>
          <a:prstGeom prst="rect">
            <a:avLst/>
          </a:prstGeom>
          <a:noFill/>
          <a:ln/>
        </p:spPr>
        <p:txBody>
          <a:bodyPr wrap="square" lIns="0" tIns="0" rIns="0" bIns="0" rtlCol="0" anchor="t">
            <a:spAutoFit/>
          </a:bodyPr>
          <a:lstStyle/>
          <a:p>
            <a:pPr algn="ctr" indent="0" marL="0">
              <a:buNone/>
            </a:pPr>
            <a:r>
              <a:rPr lang="en-US" sz="1800" b="1" dirty="0">
                <a:solidFill>
                  <a:srgbClr val="FFFFFF"/>
                </a:solidFill>
                <a:latin typeface="Inter Bold" pitchFamily="34" charset="0"/>
                <a:ea typeface="Inter Bold" pitchFamily="34" charset="-122"/>
                <a:cs typeface="Inter Bold" pitchFamily="34" charset="-120"/>
              </a:rPr>
              <a:t>Tejaswin Amara</a:t>
            </a:r>
            <a:endParaRPr lang="en-US" sz="1800" dirty="0"/>
          </a:p>
        </p:txBody>
      </p:sp>
      <p:sp>
        <p:nvSpPr>
          <p:cNvPr id="7" name="Text 3"/>
          <p:cNvSpPr/>
          <p:nvPr/>
        </p:nvSpPr>
        <p:spPr>
          <a:xfrm>
            <a:off x="1000125" y="3412396"/>
            <a:ext cx="7143750" cy="155377"/>
          </a:xfrm>
          <a:prstGeom prst="rect">
            <a:avLst/>
          </a:prstGeom>
          <a:noFill/>
          <a:ln/>
        </p:spPr>
        <p:txBody>
          <a:bodyPr wrap="square" lIns="0" tIns="0" rIns="0" bIns="0" rtlCol="0" anchor="t">
            <a:spAutoFit/>
          </a:bodyPr>
          <a:lstStyle/>
          <a:p>
            <a:pPr algn="ctr" indent="0" marL="0">
              <a:buNone/>
            </a:pPr>
            <a:r>
              <a:rPr lang="en-US" sz="950" dirty="0">
                <a:solidFill>
                  <a:srgbClr val="8892B0"/>
                </a:solidFill>
                <a:latin typeface="Inter" pitchFamily="34" charset="0"/>
                <a:ea typeface="Inter" pitchFamily="34" charset="-122"/>
                <a:cs typeface="Inter" pitchFamily="34" charset="-120"/>
              </a:rPr>
              <a:t>CSIT Major | Roll Number: 2520090104</a:t>
            </a:r>
            <a:endParaRPr lang="en-US" sz="950" dirty="0"/>
          </a:p>
        </p:txBody>
      </p:sp>
      <p:sp>
        <p:nvSpPr>
          <p:cNvPr id="8" name="Shape 4"/>
          <p:cNvSpPr/>
          <p:nvPr/>
        </p:nvSpPr>
        <p:spPr>
          <a:xfrm>
            <a:off x="0" y="4427339"/>
            <a:ext cx="9144000" cy="287536"/>
          </a:xfrm>
          <a:prstGeom prst="rect">
            <a:avLst/>
          </a:prstGeom>
          <a:solidFill>
            <a:srgbClr val="000000">
              <a:alpha val="0"/>
            </a:srgbClr>
          </a:solidFill>
          <a:ln/>
        </p:spPr>
      </p:sp>
      <p:sp>
        <p:nvSpPr>
          <p:cNvPr id="9" name="Shape 5"/>
          <p:cNvSpPr/>
          <p:nvPr/>
        </p:nvSpPr>
        <p:spPr>
          <a:xfrm>
            <a:off x="0" y="4427339"/>
            <a:ext cx="9144000" cy="7144"/>
          </a:xfrm>
          <a:prstGeom prst="rect">
            <a:avLst/>
          </a:prstGeom>
          <a:solidFill>
            <a:srgbClr val="172A45"/>
          </a:solidFill>
          <a:ln/>
        </p:spPr>
      </p:sp>
      <p:sp>
        <p:nvSpPr>
          <p:cNvPr id="10" name="Text 6"/>
          <p:cNvSpPr/>
          <p:nvPr/>
        </p:nvSpPr>
        <p:spPr>
          <a:xfrm>
            <a:off x="1191220" y="4577358"/>
            <a:ext cx="2664619" cy="137517"/>
          </a:xfrm>
          <a:prstGeom prst="rect">
            <a:avLst/>
          </a:prstGeom>
          <a:noFill/>
          <a:ln/>
        </p:spPr>
        <p:txBody>
          <a:bodyPr wrap="square" lIns="0" tIns="0" rIns="0" bIns="0"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University:</a:t>
            </a:r>
            <a:r>
              <a:rPr lang="en-US" sz="850" dirty="0">
                <a:solidFill>
                  <a:srgbClr val="CCD6F6"/>
                </a:solidFill>
                <a:latin typeface="Inter" pitchFamily="34" charset="0"/>
                <a:ea typeface="Inter" pitchFamily="34" charset="-122"/>
                <a:cs typeface="Inter" pitchFamily="34" charset="-120"/>
              </a:rPr>
              <a:t>KLH University (Bachupally Campus)</a:t>
            </a:r>
            <a:endParaRPr lang="en-US" sz="800" dirty="0"/>
          </a:p>
        </p:txBody>
      </p:sp>
      <p:sp>
        <p:nvSpPr>
          <p:cNvPr id="11" name="Text 7"/>
          <p:cNvSpPr/>
          <p:nvPr/>
        </p:nvSpPr>
        <p:spPr>
          <a:xfrm>
            <a:off x="4141589" y="4577358"/>
            <a:ext cx="1212652" cy="137517"/>
          </a:xfrm>
          <a:prstGeom prst="rect">
            <a:avLst/>
          </a:prstGeom>
          <a:noFill/>
          <a:ln/>
        </p:spPr>
        <p:txBody>
          <a:bodyPr wrap="none" lIns="0" tIns="0" rIns="0" bIns="0"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Coverage:</a:t>
            </a:r>
            <a:r>
              <a:rPr lang="en-US" sz="850" dirty="0">
                <a:solidFill>
                  <a:srgbClr val="CCD6F6"/>
                </a:solidFill>
                <a:latin typeface="Inter" pitchFamily="34" charset="0"/>
                <a:ea typeface="Inter" pitchFamily="34" charset="-122"/>
                <a:cs typeface="Inter" pitchFamily="34" charset="-120"/>
              </a:rPr>
              <a:t>CO1 – CO6</a:t>
            </a:r>
            <a:endParaRPr lang="en-US" sz="800" dirty="0"/>
          </a:p>
        </p:txBody>
      </p:sp>
      <p:sp>
        <p:nvSpPr>
          <p:cNvPr id="12" name="Text 8"/>
          <p:cNvSpPr/>
          <p:nvPr/>
        </p:nvSpPr>
        <p:spPr>
          <a:xfrm>
            <a:off x="5639991" y="4577358"/>
            <a:ext cx="2312789" cy="137517"/>
          </a:xfrm>
          <a:prstGeom prst="rect">
            <a:avLst/>
          </a:prstGeom>
          <a:noFill/>
          <a:ln/>
        </p:spPr>
        <p:txBody>
          <a:bodyPr wrap="square" lIns="0" tIns="0" rIns="0" bIns="0"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Dataset:</a:t>
            </a:r>
            <a:r>
              <a:rPr lang="en-US" sz="850" dirty="0">
                <a:solidFill>
                  <a:srgbClr val="CCD6F6"/>
                </a:solidFill>
                <a:latin typeface="Inter" pitchFamily="34" charset="0"/>
                <a:ea typeface="Inter" pitchFamily="34" charset="-122"/>
                <a:cs typeface="Inter" pitchFamily="34" charset="-120"/>
              </a:rPr>
              <a:t>Kaggle Insurance (1,338 records)</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50588"/>
          </a:xfrm>
          <a:prstGeom prst="rect">
            <a:avLst/>
          </a:prstGeom>
        </p:spPr>
      </p:pic>
      <p:sp>
        <p:nvSpPr>
          <p:cNvPr id="4" name="Text 0"/>
          <p:cNvSpPr/>
          <p:nvPr/>
        </p:nvSpPr>
        <p:spPr>
          <a:xfrm>
            <a:off x="428625" y="515466"/>
            <a:ext cx="8715375" cy="414338"/>
          </a:xfrm>
          <a:prstGeom prst="rect">
            <a:avLst/>
          </a:prstGeom>
          <a:noFill/>
          <a:ln/>
        </p:spPr>
        <p:txBody>
          <a:bodyPr wrap="square" lIns="0" tIns="0" rIns="0" bIns="0" rtlCol="0" anchor="t">
            <a:spAutoFit/>
          </a:bodyPr>
          <a:lstStyle/>
          <a:p>
            <a:pPr algn="l" indent="0" marL="0">
              <a:buNone/>
            </a:pPr>
            <a:r>
              <a:rPr lang="en-US" sz="2450" b="1" dirty="0">
                <a:solidFill>
                  <a:srgbClr val="64FFDA"/>
                </a:solidFill>
                <a:latin typeface="Inter Black" pitchFamily="34" charset="0"/>
                <a:ea typeface="Inter Black" pitchFamily="34" charset="-122"/>
                <a:cs typeface="Inter Black" pitchFamily="34" charset="-120"/>
              </a:rPr>
              <a:t>PROJECT OVERVIEW</a:t>
            </a:r>
            <a:endParaRPr lang="en-US" sz="2450" dirty="0"/>
          </a:p>
        </p:txBody>
      </p:sp>
      <p:sp>
        <p:nvSpPr>
          <p:cNvPr id="5" name="Text 1"/>
          <p:cNvSpPr/>
          <p:nvPr/>
        </p:nvSpPr>
        <p:spPr>
          <a:xfrm>
            <a:off x="428625" y="1072093"/>
            <a:ext cx="8715375" cy="207169"/>
          </a:xfrm>
          <a:prstGeom prst="rect">
            <a:avLst/>
          </a:prstGeom>
          <a:noFill/>
          <a:ln/>
        </p:spPr>
        <p:txBody>
          <a:bodyPr wrap="square" lIns="0" tIns="0" rIns="0" bIns="0" rtlCol="0" anchor="t">
            <a:spAutoFit/>
          </a:bodyPr>
          <a:lstStyle/>
          <a:p>
            <a:pPr algn="l" indent="0" marL="0">
              <a:buNone/>
            </a:pPr>
            <a:r>
              <a:rPr lang="en-US" sz="1200" b="1" dirty="0">
                <a:solidFill>
                  <a:srgbClr val="8892B0"/>
                </a:solidFill>
                <a:latin typeface="Inter Bold" pitchFamily="34" charset="0"/>
                <a:ea typeface="Inter Bold" pitchFamily="34" charset="-122"/>
                <a:cs typeface="Inter Bold" pitchFamily="34" charset="-120"/>
              </a:rPr>
              <a:t>Objectives &amp; Data Foundation</a:t>
            </a:r>
            <a:endParaRPr lang="en-US" sz="1200" dirty="0"/>
          </a:p>
        </p:txBody>
      </p:sp>
      <p:sp>
        <p:nvSpPr>
          <p:cNvPr id="6" name="Text 2"/>
          <p:cNvSpPr/>
          <p:nvPr/>
        </p:nvSpPr>
        <p:spPr>
          <a:xfrm>
            <a:off x="600075" y="1671582"/>
            <a:ext cx="3829050" cy="137517"/>
          </a:xfrm>
          <a:prstGeom prst="rect">
            <a:avLst/>
          </a:prstGeom>
          <a:noFill/>
          <a:ln/>
        </p:spPr>
        <p:txBody>
          <a:bodyPr wrap="square" lIns="0" tIns="0" rIns="0" bIns="0"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PRIMARY OBJECTIVE</a:t>
            </a:r>
            <a:endParaRPr lang="en-US" sz="800" dirty="0"/>
          </a:p>
        </p:txBody>
      </p:sp>
      <p:sp>
        <p:nvSpPr>
          <p:cNvPr id="7" name="Text 3"/>
          <p:cNvSpPr/>
          <p:nvPr/>
        </p:nvSpPr>
        <p:spPr>
          <a:xfrm>
            <a:off x="600075" y="1944830"/>
            <a:ext cx="3829050" cy="610791"/>
          </a:xfrm>
          <a:prstGeom prst="rect">
            <a:avLst/>
          </a:prstGeom>
          <a:noFill/>
          <a:ln/>
        </p:spPr>
        <p:txBody>
          <a:bodyPr wrap="square" lIns="0" tIns="0" rIns="0" bIns="0" rtlCol="0" anchor="t">
            <a:spAutoFit/>
          </a:bodyPr>
          <a:lstStyle/>
          <a:p>
            <a:pPr algn="l" indent="0" marL="0">
              <a:lnSpc>
                <a:spcPct val="120000"/>
              </a:lnSpc>
              <a:buNone/>
            </a:pPr>
            <a:r>
              <a:rPr lang="en-US" sz="1000" dirty="0">
                <a:solidFill>
                  <a:srgbClr val="CCD6F6"/>
                </a:solidFill>
                <a:latin typeface="Inter" pitchFamily="34" charset="0"/>
                <a:ea typeface="Inter" pitchFamily="34" charset="-122"/>
                <a:cs typeface="Inter" pitchFamily="34" charset="-120"/>
              </a:rPr>
              <a:t>Analyze medical charges and identify key risk factors driving insurance claims to enable accurate premium pricing.</a:t>
            </a:r>
            <a:endParaRPr lang="en-US" sz="1000" dirty="0"/>
          </a:p>
        </p:txBody>
      </p:sp>
      <p:sp>
        <p:nvSpPr>
          <p:cNvPr id="8" name="Text 4"/>
          <p:cNvSpPr/>
          <p:nvPr/>
        </p:nvSpPr>
        <p:spPr>
          <a:xfrm>
            <a:off x="600075" y="2905665"/>
            <a:ext cx="3829050" cy="137517"/>
          </a:xfrm>
          <a:prstGeom prst="rect">
            <a:avLst/>
          </a:prstGeom>
          <a:noFill/>
          <a:ln/>
        </p:spPr>
        <p:txBody>
          <a:bodyPr wrap="square" lIns="0" tIns="0" rIns="0" bIns="0"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PROBLEM STATEMENT</a:t>
            </a:r>
            <a:endParaRPr lang="en-US" sz="800" dirty="0"/>
          </a:p>
        </p:txBody>
      </p:sp>
      <p:sp>
        <p:nvSpPr>
          <p:cNvPr id="9" name="Text 5"/>
          <p:cNvSpPr/>
          <p:nvPr/>
        </p:nvSpPr>
        <p:spPr>
          <a:xfrm>
            <a:off x="600075" y="3178913"/>
            <a:ext cx="3829050" cy="407194"/>
          </a:xfrm>
          <a:prstGeom prst="rect">
            <a:avLst/>
          </a:prstGeom>
          <a:noFill/>
          <a:ln/>
        </p:spPr>
        <p:txBody>
          <a:bodyPr wrap="square" lIns="0" tIns="0" rIns="0" bIns="0" rtlCol="0" anchor="t">
            <a:spAutoFit/>
          </a:bodyPr>
          <a:lstStyle/>
          <a:p>
            <a:pPr algn="l" indent="0" marL="0">
              <a:lnSpc>
                <a:spcPct val="120000"/>
              </a:lnSpc>
              <a:buNone/>
            </a:pPr>
            <a:r>
              <a:rPr lang="en-US" sz="1000" dirty="0">
                <a:solidFill>
                  <a:srgbClr val="CCD6F6"/>
                </a:solidFill>
                <a:latin typeface="Inter" pitchFamily="34" charset="0"/>
                <a:ea typeface="Inter" pitchFamily="34" charset="-122"/>
                <a:cs typeface="Inter" pitchFamily="34" charset="-120"/>
              </a:rPr>
              <a:t>Insurers must understand drivers of medical costs to mitigate high-risk exposures and maintain financial stability.</a:t>
            </a:r>
            <a:endParaRPr lang="en-US" sz="1000" dirty="0"/>
          </a:p>
        </p:txBody>
      </p:sp>
      <p:sp>
        <p:nvSpPr>
          <p:cNvPr id="10" name="Text 6"/>
          <p:cNvSpPr/>
          <p:nvPr/>
        </p:nvSpPr>
        <p:spPr>
          <a:xfrm>
            <a:off x="600075" y="3936150"/>
            <a:ext cx="3829050" cy="137517"/>
          </a:xfrm>
          <a:prstGeom prst="rect">
            <a:avLst/>
          </a:prstGeom>
          <a:noFill/>
          <a:ln/>
        </p:spPr>
        <p:txBody>
          <a:bodyPr wrap="square" lIns="0" tIns="0" rIns="0" bIns="0"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TECH STACK &amp; TOOLS</a:t>
            </a:r>
            <a:endParaRPr lang="en-US" sz="800" dirty="0"/>
          </a:p>
        </p:txBody>
      </p:sp>
      <p:sp>
        <p:nvSpPr>
          <p:cNvPr id="11" name="Shape 7"/>
          <p:cNvSpPr/>
          <p:nvPr/>
        </p:nvSpPr>
        <p:spPr>
          <a:xfrm>
            <a:off x="600075" y="4180824"/>
            <a:ext cx="480417" cy="183952"/>
          </a:xfrm>
          <a:prstGeom prst="rect">
            <a:avLst/>
          </a:prstGeom>
          <a:solidFill>
            <a:srgbClr val="172A45"/>
          </a:solidFill>
          <a:ln w="9144">
            <a:solidFill>
              <a:srgbClr val="64FFDA"/>
            </a:solidFill>
            <a:prstDash val="solid"/>
          </a:ln>
        </p:spPr>
      </p:sp>
      <p:sp>
        <p:nvSpPr>
          <p:cNvPr id="12" name="Text 8"/>
          <p:cNvSpPr/>
          <p:nvPr/>
        </p:nvSpPr>
        <p:spPr>
          <a:xfrm>
            <a:off x="600075" y="4180824"/>
            <a:ext cx="480417" cy="183952"/>
          </a:xfrm>
          <a:prstGeom prst="rect">
            <a:avLst/>
          </a:prstGeom>
          <a:noFill/>
          <a:ln/>
        </p:spPr>
        <p:txBody>
          <a:bodyPr wrap="none" lIns="85090" tIns="34036" rIns="85090" bIns="34036" rtlCol="0" anchor="t">
            <a:spAutoFit/>
          </a:bodyPr>
          <a:lstStyle/>
          <a:p>
            <a:pPr algn="l" indent="0" marL="0">
              <a:buNone/>
            </a:pPr>
            <a:r>
              <a:rPr lang="en-US" sz="650" b="1" dirty="0">
                <a:solidFill>
                  <a:srgbClr val="64FFDA"/>
                </a:solidFill>
                <a:latin typeface="Inter Bold" pitchFamily="34" charset="0"/>
                <a:ea typeface="Inter Bold" pitchFamily="34" charset="-122"/>
                <a:cs typeface="Inter Bold" pitchFamily="34" charset="-120"/>
              </a:rPr>
              <a:t>Python</a:t>
            </a:r>
            <a:endParaRPr lang="en-US" sz="650" dirty="0"/>
          </a:p>
        </p:txBody>
      </p:sp>
      <p:sp>
        <p:nvSpPr>
          <p:cNvPr id="13" name="Shape 9"/>
          <p:cNvSpPr/>
          <p:nvPr/>
        </p:nvSpPr>
        <p:spPr>
          <a:xfrm>
            <a:off x="1123355" y="4180824"/>
            <a:ext cx="491133" cy="183952"/>
          </a:xfrm>
          <a:prstGeom prst="rect">
            <a:avLst/>
          </a:prstGeom>
          <a:solidFill>
            <a:srgbClr val="172A45"/>
          </a:solidFill>
          <a:ln w="9144">
            <a:solidFill>
              <a:srgbClr val="64FFDA"/>
            </a:solidFill>
            <a:prstDash val="solid"/>
          </a:ln>
        </p:spPr>
      </p:sp>
      <p:sp>
        <p:nvSpPr>
          <p:cNvPr id="14" name="Text 10"/>
          <p:cNvSpPr/>
          <p:nvPr/>
        </p:nvSpPr>
        <p:spPr>
          <a:xfrm>
            <a:off x="1123355" y="4180824"/>
            <a:ext cx="491133" cy="183952"/>
          </a:xfrm>
          <a:prstGeom prst="rect">
            <a:avLst/>
          </a:prstGeom>
          <a:noFill/>
          <a:ln/>
        </p:spPr>
        <p:txBody>
          <a:bodyPr wrap="none" lIns="85090" tIns="34036" rIns="85090" bIns="34036" rtlCol="0" anchor="t">
            <a:spAutoFit/>
          </a:bodyPr>
          <a:lstStyle/>
          <a:p>
            <a:pPr algn="l" indent="0" marL="0">
              <a:buNone/>
            </a:pPr>
            <a:r>
              <a:rPr lang="en-US" sz="650" b="1" dirty="0">
                <a:solidFill>
                  <a:srgbClr val="64FFDA"/>
                </a:solidFill>
                <a:latin typeface="Inter Bold" pitchFamily="34" charset="0"/>
                <a:ea typeface="Inter Bold" pitchFamily="34" charset="-122"/>
                <a:cs typeface="Inter Bold" pitchFamily="34" charset="-120"/>
              </a:rPr>
              <a:t>Pandas</a:t>
            </a:r>
            <a:endParaRPr lang="en-US" sz="650" dirty="0"/>
          </a:p>
        </p:txBody>
      </p:sp>
      <p:sp>
        <p:nvSpPr>
          <p:cNvPr id="15" name="Shape 11"/>
          <p:cNvSpPr/>
          <p:nvPr/>
        </p:nvSpPr>
        <p:spPr>
          <a:xfrm>
            <a:off x="1657350" y="4180824"/>
            <a:ext cx="485775" cy="183952"/>
          </a:xfrm>
          <a:prstGeom prst="rect">
            <a:avLst/>
          </a:prstGeom>
          <a:solidFill>
            <a:srgbClr val="172A45"/>
          </a:solidFill>
          <a:ln w="9144">
            <a:solidFill>
              <a:srgbClr val="64FFDA"/>
            </a:solidFill>
            <a:prstDash val="solid"/>
          </a:ln>
        </p:spPr>
      </p:sp>
      <p:sp>
        <p:nvSpPr>
          <p:cNvPr id="16" name="Text 12"/>
          <p:cNvSpPr/>
          <p:nvPr/>
        </p:nvSpPr>
        <p:spPr>
          <a:xfrm>
            <a:off x="1657350" y="4180824"/>
            <a:ext cx="485775" cy="183952"/>
          </a:xfrm>
          <a:prstGeom prst="rect">
            <a:avLst/>
          </a:prstGeom>
          <a:noFill/>
          <a:ln/>
        </p:spPr>
        <p:txBody>
          <a:bodyPr wrap="none" lIns="85090" tIns="34036" rIns="85090" bIns="34036" rtlCol="0" anchor="t">
            <a:spAutoFit/>
          </a:bodyPr>
          <a:lstStyle/>
          <a:p>
            <a:pPr algn="l" indent="0" marL="0">
              <a:buNone/>
            </a:pPr>
            <a:r>
              <a:rPr lang="en-US" sz="650" b="1" dirty="0">
                <a:solidFill>
                  <a:srgbClr val="64FFDA"/>
                </a:solidFill>
                <a:latin typeface="Inter Bold" pitchFamily="34" charset="0"/>
                <a:ea typeface="Inter Bold" pitchFamily="34" charset="-122"/>
                <a:cs typeface="Inter Bold" pitchFamily="34" charset="-120"/>
              </a:rPr>
              <a:t>NumPy</a:t>
            </a:r>
            <a:endParaRPr lang="en-US" sz="650" dirty="0"/>
          </a:p>
        </p:txBody>
      </p:sp>
      <p:sp>
        <p:nvSpPr>
          <p:cNvPr id="17" name="Shape 13"/>
          <p:cNvSpPr/>
          <p:nvPr/>
        </p:nvSpPr>
        <p:spPr>
          <a:xfrm>
            <a:off x="2185988" y="4180824"/>
            <a:ext cx="414338" cy="183952"/>
          </a:xfrm>
          <a:prstGeom prst="rect">
            <a:avLst/>
          </a:prstGeom>
          <a:solidFill>
            <a:srgbClr val="172A45"/>
          </a:solidFill>
          <a:ln w="9144">
            <a:solidFill>
              <a:srgbClr val="64FFDA"/>
            </a:solidFill>
            <a:prstDash val="solid"/>
          </a:ln>
        </p:spPr>
      </p:sp>
      <p:sp>
        <p:nvSpPr>
          <p:cNvPr id="18" name="Text 14"/>
          <p:cNvSpPr/>
          <p:nvPr/>
        </p:nvSpPr>
        <p:spPr>
          <a:xfrm>
            <a:off x="2185988" y="4180824"/>
            <a:ext cx="414338" cy="183952"/>
          </a:xfrm>
          <a:prstGeom prst="rect">
            <a:avLst/>
          </a:prstGeom>
          <a:noFill/>
          <a:ln/>
        </p:spPr>
        <p:txBody>
          <a:bodyPr wrap="none" lIns="85090" tIns="34036" rIns="85090" bIns="34036" rtlCol="0" anchor="t">
            <a:spAutoFit/>
          </a:bodyPr>
          <a:lstStyle/>
          <a:p>
            <a:pPr algn="l" indent="0" marL="0">
              <a:buNone/>
            </a:pPr>
            <a:r>
              <a:rPr lang="en-US" sz="650" b="1" dirty="0">
                <a:solidFill>
                  <a:srgbClr val="64FFDA"/>
                </a:solidFill>
                <a:latin typeface="Inter Bold" pitchFamily="34" charset="0"/>
                <a:ea typeface="Inter Bold" pitchFamily="34" charset="-122"/>
                <a:cs typeface="Inter Bold" pitchFamily="34" charset="-120"/>
              </a:rPr>
              <a:t>SciPy</a:t>
            </a:r>
            <a:endParaRPr lang="en-US" sz="650" dirty="0"/>
          </a:p>
        </p:txBody>
      </p:sp>
      <p:sp>
        <p:nvSpPr>
          <p:cNvPr id="19" name="Shape 15"/>
          <p:cNvSpPr/>
          <p:nvPr/>
        </p:nvSpPr>
        <p:spPr>
          <a:xfrm>
            <a:off x="2643188" y="4180824"/>
            <a:ext cx="682228" cy="183952"/>
          </a:xfrm>
          <a:prstGeom prst="rect">
            <a:avLst/>
          </a:prstGeom>
          <a:solidFill>
            <a:srgbClr val="172A45"/>
          </a:solidFill>
          <a:ln w="9144">
            <a:solidFill>
              <a:srgbClr val="64FFDA"/>
            </a:solidFill>
            <a:prstDash val="solid"/>
          </a:ln>
        </p:spPr>
      </p:sp>
      <p:sp>
        <p:nvSpPr>
          <p:cNvPr id="20" name="Text 16"/>
          <p:cNvSpPr/>
          <p:nvPr/>
        </p:nvSpPr>
        <p:spPr>
          <a:xfrm>
            <a:off x="2643188" y="4180824"/>
            <a:ext cx="682228" cy="183952"/>
          </a:xfrm>
          <a:prstGeom prst="rect">
            <a:avLst/>
          </a:prstGeom>
          <a:noFill/>
          <a:ln/>
        </p:spPr>
        <p:txBody>
          <a:bodyPr wrap="none" lIns="85090" tIns="34036" rIns="85090" bIns="34036" rtlCol="0" anchor="t">
            <a:spAutoFit/>
          </a:bodyPr>
          <a:lstStyle/>
          <a:p>
            <a:pPr algn="l" indent="0" marL="0">
              <a:buNone/>
            </a:pPr>
            <a:r>
              <a:rPr lang="en-US" sz="650" b="1" dirty="0">
                <a:solidFill>
                  <a:srgbClr val="64FFDA"/>
                </a:solidFill>
                <a:latin typeface="Inter Bold" pitchFamily="34" charset="0"/>
                <a:ea typeface="Inter Bold" pitchFamily="34" charset="-122"/>
                <a:cs typeface="Inter Bold" pitchFamily="34" charset="-120"/>
              </a:rPr>
              <a:t>Scikit-learn</a:t>
            </a:r>
            <a:endParaRPr lang="en-US" sz="650" dirty="0"/>
          </a:p>
        </p:txBody>
      </p:sp>
      <p:sp>
        <p:nvSpPr>
          <p:cNvPr id="21" name="Shape 17"/>
          <p:cNvSpPr/>
          <p:nvPr/>
        </p:nvSpPr>
        <p:spPr>
          <a:xfrm>
            <a:off x="3368278" y="4180824"/>
            <a:ext cx="614363" cy="183952"/>
          </a:xfrm>
          <a:prstGeom prst="rect">
            <a:avLst/>
          </a:prstGeom>
          <a:solidFill>
            <a:srgbClr val="172A45"/>
          </a:solidFill>
          <a:ln w="9144">
            <a:solidFill>
              <a:srgbClr val="64FFDA"/>
            </a:solidFill>
            <a:prstDash val="solid"/>
          </a:ln>
        </p:spPr>
      </p:sp>
      <p:sp>
        <p:nvSpPr>
          <p:cNvPr id="22" name="Text 18"/>
          <p:cNvSpPr/>
          <p:nvPr/>
        </p:nvSpPr>
        <p:spPr>
          <a:xfrm>
            <a:off x="3368278" y="4180824"/>
            <a:ext cx="614363" cy="183952"/>
          </a:xfrm>
          <a:prstGeom prst="rect">
            <a:avLst/>
          </a:prstGeom>
          <a:noFill/>
          <a:ln/>
        </p:spPr>
        <p:txBody>
          <a:bodyPr wrap="none" lIns="85090" tIns="34036" rIns="85090" bIns="34036" rtlCol="0" anchor="t">
            <a:spAutoFit/>
          </a:bodyPr>
          <a:lstStyle/>
          <a:p>
            <a:pPr algn="l" indent="0" marL="0">
              <a:buNone/>
            </a:pPr>
            <a:r>
              <a:rPr lang="en-US" sz="650" b="1" dirty="0">
                <a:solidFill>
                  <a:srgbClr val="64FFDA"/>
                </a:solidFill>
                <a:latin typeface="Inter Bold" pitchFamily="34" charset="0"/>
                <a:ea typeface="Inter Bold" pitchFamily="34" charset="-122"/>
                <a:cs typeface="Inter Bold" pitchFamily="34" charset="-120"/>
              </a:rPr>
              <a:t>Matplotlib</a:t>
            </a:r>
            <a:endParaRPr lang="en-US" sz="650" dirty="0"/>
          </a:p>
        </p:txBody>
      </p:sp>
      <p:sp>
        <p:nvSpPr>
          <p:cNvPr id="23" name="Shape 19"/>
          <p:cNvSpPr/>
          <p:nvPr/>
        </p:nvSpPr>
        <p:spPr>
          <a:xfrm>
            <a:off x="600075" y="4407638"/>
            <a:ext cx="539353" cy="183952"/>
          </a:xfrm>
          <a:prstGeom prst="rect">
            <a:avLst/>
          </a:prstGeom>
          <a:solidFill>
            <a:srgbClr val="172A45"/>
          </a:solidFill>
          <a:ln w="9144">
            <a:solidFill>
              <a:srgbClr val="64FFDA"/>
            </a:solidFill>
            <a:prstDash val="solid"/>
          </a:ln>
        </p:spPr>
      </p:sp>
      <p:sp>
        <p:nvSpPr>
          <p:cNvPr id="24" name="Text 20"/>
          <p:cNvSpPr/>
          <p:nvPr/>
        </p:nvSpPr>
        <p:spPr>
          <a:xfrm>
            <a:off x="600075" y="4407638"/>
            <a:ext cx="539353" cy="183952"/>
          </a:xfrm>
          <a:prstGeom prst="rect">
            <a:avLst/>
          </a:prstGeom>
          <a:noFill/>
          <a:ln/>
        </p:spPr>
        <p:txBody>
          <a:bodyPr wrap="none" lIns="85090" tIns="34036" rIns="85090" bIns="34036" rtlCol="0" anchor="t">
            <a:spAutoFit/>
          </a:bodyPr>
          <a:lstStyle/>
          <a:p>
            <a:pPr algn="l" indent="0" marL="0">
              <a:buNone/>
            </a:pPr>
            <a:r>
              <a:rPr lang="en-US" sz="650" b="1" dirty="0">
                <a:solidFill>
                  <a:srgbClr val="64FFDA"/>
                </a:solidFill>
                <a:latin typeface="Inter Bold" pitchFamily="34" charset="0"/>
                <a:ea typeface="Inter Bold" pitchFamily="34" charset="-122"/>
                <a:cs typeface="Inter Bold" pitchFamily="34" charset="-120"/>
              </a:rPr>
              <a:t>Seaborn</a:t>
            </a:r>
            <a:endParaRPr lang="en-US" sz="650" dirty="0"/>
          </a:p>
        </p:txBody>
      </p:sp>
      <p:sp>
        <p:nvSpPr>
          <p:cNvPr id="25" name="Shape 21"/>
          <p:cNvSpPr/>
          <p:nvPr/>
        </p:nvSpPr>
        <p:spPr>
          <a:xfrm>
            <a:off x="4714875" y="1635863"/>
            <a:ext cx="4000500" cy="3514725"/>
          </a:xfrm>
          <a:prstGeom prst="rect">
            <a:avLst/>
          </a:prstGeom>
          <a:solidFill>
            <a:srgbClr val="112240"/>
          </a:solidFill>
          <a:ln w="9144">
            <a:solidFill>
              <a:srgbClr val="172A45"/>
            </a:solidFill>
            <a:prstDash val="solid"/>
          </a:ln>
        </p:spPr>
      </p:sp>
      <p:sp>
        <p:nvSpPr>
          <p:cNvPr id="26" name="Text 22"/>
          <p:cNvSpPr/>
          <p:nvPr/>
        </p:nvSpPr>
        <p:spPr>
          <a:xfrm>
            <a:off x="4857750" y="1778738"/>
            <a:ext cx="1528902" cy="307181"/>
          </a:xfrm>
          <a:prstGeom prst="rect">
            <a:avLst/>
          </a:prstGeom>
          <a:noFill/>
          <a:ln/>
        </p:spPr>
        <p:txBody>
          <a:bodyPr wrap="square" lIns="102108" tIns="102108" rIns="102108" bIns="102108" rtlCol="0" anchor="ctr">
            <a:spAutoFit/>
          </a:bodyPr>
          <a:lstStyle/>
          <a:p>
            <a:pPr algn="l" indent="0" marL="0">
              <a:buNone/>
            </a:pPr>
            <a:r>
              <a:rPr lang="en-US" sz="750" b="1" dirty="0">
                <a:solidFill>
                  <a:srgbClr val="64FFDA"/>
                </a:solidFill>
                <a:latin typeface="Inter Bold" pitchFamily="34" charset="0"/>
                <a:ea typeface="Inter Bold" pitchFamily="34" charset="-122"/>
                <a:cs typeface="Inter Bold" pitchFamily="34" charset="-120"/>
              </a:rPr>
              <a:t>DATASET FEATURE</a:t>
            </a:r>
            <a:endParaRPr lang="en-US" sz="750" dirty="0"/>
          </a:p>
        </p:txBody>
      </p:sp>
      <p:sp>
        <p:nvSpPr>
          <p:cNvPr id="27" name="Text 23"/>
          <p:cNvSpPr/>
          <p:nvPr/>
        </p:nvSpPr>
        <p:spPr>
          <a:xfrm>
            <a:off x="6386652" y="1778738"/>
            <a:ext cx="2185848" cy="307181"/>
          </a:xfrm>
          <a:prstGeom prst="rect">
            <a:avLst/>
          </a:prstGeom>
          <a:noFill/>
          <a:ln/>
        </p:spPr>
        <p:txBody>
          <a:bodyPr wrap="square" lIns="102108" tIns="102108" rIns="102108" bIns="102108" rtlCol="0" anchor="ctr">
            <a:spAutoFit/>
          </a:bodyPr>
          <a:lstStyle/>
          <a:p>
            <a:pPr algn="l" indent="0" marL="0">
              <a:buNone/>
            </a:pPr>
            <a:r>
              <a:rPr lang="en-US" sz="750" b="1" dirty="0">
                <a:solidFill>
                  <a:srgbClr val="64FFDA"/>
                </a:solidFill>
                <a:latin typeface="Inter Bold" pitchFamily="34" charset="0"/>
                <a:ea typeface="Inter Bold" pitchFamily="34" charset="-122"/>
                <a:cs typeface="Inter Bold" pitchFamily="34" charset="-120"/>
              </a:rPr>
              <a:t>DESCRIPTION</a:t>
            </a:r>
            <a:endParaRPr lang="en-US" sz="750" dirty="0"/>
          </a:p>
        </p:txBody>
      </p:sp>
      <p:sp>
        <p:nvSpPr>
          <p:cNvPr id="28" name="Text 24"/>
          <p:cNvSpPr/>
          <p:nvPr/>
        </p:nvSpPr>
        <p:spPr>
          <a:xfrm>
            <a:off x="4857750" y="2085919"/>
            <a:ext cx="1528902" cy="328613"/>
          </a:xfrm>
          <a:prstGeom prst="rect">
            <a:avLst/>
          </a:prstGeom>
          <a:noFill/>
          <a:ln/>
        </p:spPr>
        <p:txBody>
          <a:bodyPr wrap="square" lIns="102108" tIns="102108" rIns="102108" bIns="102108" rtlCol="0" anchor="ctr">
            <a:spAutoFit/>
          </a:bodyPr>
          <a:lstStyle/>
          <a:p>
            <a:pPr algn="l" indent="0" marL="0">
              <a:buNone/>
            </a:pPr>
            <a:r>
              <a:rPr lang="en-US" sz="900" dirty="0">
                <a:solidFill>
                  <a:srgbClr val="CCD6F6"/>
                </a:solidFill>
                <a:latin typeface="Inter" pitchFamily="34" charset="0"/>
                <a:ea typeface="Inter" pitchFamily="34" charset="-122"/>
                <a:cs typeface="Inter" pitchFamily="34" charset="-120"/>
              </a:rPr>
              <a:t>Records</a:t>
            </a:r>
            <a:endParaRPr lang="en-US" sz="900" dirty="0"/>
          </a:p>
        </p:txBody>
      </p:sp>
      <p:sp>
        <p:nvSpPr>
          <p:cNvPr id="29" name="Text 25"/>
          <p:cNvSpPr/>
          <p:nvPr/>
        </p:nvSpPr>
        <p:spPr>
          <a:xfrm>
            <a:off x="6386652" y="2085919"/>
            <a:ext cx="2185848" cy="328613"/>
          </a:xfrm>
          <a:prstGeom prst="rect">
            <a:avLst/>
          </a:prstGeom>
          <a:noFill/>
          <a:ln/>
        </p:spPr>
        <p:txBody>
          <a:bodyPr wrap="square" lIns="102108" tIns="102108" rIns="102108" bIns="102108" rtlCol="0" anchor="ctr">
            <a:spAutoFit/>
          </a:bodyPr>
          <a:lstStyle/>
          <a:p>
            <a:pPr algn="l" indent="0" marL="0">
              <a:buNone/>
            </a:pPr>
            <a:r>
              <a:rPr lang="en-US" sz="900" dirty="0">
                <a:solidFill>
                  <a:srgbClr val="CCD6F6"/>
                </a:solidFill>
                <a:latin typeface="Inter" pitchFamily="34" charset="0"/>
                <a:ea typeface="Inter" pitchFamily="34" charset="-122"/>
                <a:cs typeface="Inter" pitchFamily="34" charset="-120"/>
              </a:rPr>
              <a:t>1,338 Individual Claims</a:t>
            </a:r>
            <a:endParaRPr lang="en-US" sz="900" dirty="0"/>
          </a:p>
        </p:txBody>
      </p:sp>
      <p:sp>
        <p:nvSpPr>
          <p:cNvPr id="30" name="Text 26"/>
          <p:cNvSpPr/>
          <p:nvPr/>
        </p:nvSpPr>
        <p:spPr>
          <a:xfrm>
            <a:off x="4857750" y="2414532"/>
            <a:ext cx="1528902" cy="325041"/>
          </a:xfrm>
          <a:prstGeom prst="rect">
            <a:avLst/>
          </a:prstGeom>
          <a:noFill/>
          <a:ln/>
        </p:spPr>
        <p:txBody>
          <a:bodyPr wrap="square" lIns="102108" tIns="102108" rIns="102108" bIns="102108" rtlCol="0" anchor="ctr">
            <a:spAutoFit/>
          </a:bodyPr>
          <a:lstStyle/>
          <a:p>
            <a:pPr algn="l" indent="0" marL="0">
              <a:buNone/>
            </a:pPr>
            <a:r>
              <a:rPr lang="en-US" sz="900" dirty="0">
                <a:solidFill>
                  <a:srgbClr val="CCD6F6"/>
                </a:solidFill>
                <a:latin typeface="Inter" pitchFamily="34" charset="0"/>
                <a:ea typeface="Inter" pitchFamily="34" charset="-122"/>
                <a:cs typeface="Inter" pitchFamily="34" charset="-120"/>
              </a:rPr>
              <a:t>Variables</a:t>
            </a:r>
            <a:endParaRPr lang="en-US" sz="900" dirty="0"/>
          </a:p>
        </p:txBody>
      </p:sp>
      <p:sp>
        <p:nvSpPr>
          <p:cNvPr id="31" name="Text 27"/>
          <p:cNvSpPr/>
          <p:nvPr/>
        </p:nvSpPr>
        <p:spPr>
          <a:xfrm>
            <a:off x="6386652" y="2414532"/>
            <a:ext cx="2185848" cy="325041"/>
          </a:xfrm>
          <a:prstGeom prst="rect">
            <a:avLst/>
          </a:prstGeom>
          <a:noFill/>
          <a:ln/>
        </p:spPr>
        <p:txBody>
          <a:bodyPr wrap="square" lIns="102108" tIns="102108" rIns="102108" bIns="102108" rtlCol="0" anchor="ctr">
            <a:spAutoFit/>
          </a:bodyPr>
          <a:lstStyle/>
          <a:p>
            <a:pPr algn="l" indent="0" marL="0">
              <a:buNone/>
            </a:pPr>
            <a:r>
              <a:rPr lang="en-US" sz="900" dirty="0">
                <a:solidFill>
                  <a:srgbClr val="CCD6F6"/>
                </a:solidFill>
                <a:latin typeface="Inter" pitchFamily="34" charset="0"/>
                <a:ea typeface="Inter" pitchFamily="34" charset="-122"/>
                <a:cs typeface="Inter" pitchFamily="34" charset="-120"/>
              </a:rPr>
              <a:t>7 (Age, BMI, Smoker, etc.)</a:t>
            </a:r>
            <a:endParaRPr lang="en-US" sz="900" dirty="0"/>
          </a:p>
        </p:txBody>
      </p:sp>
      <p:sp>
        <p:nvSpPr>
          <p:cNvPr id="32" name="Text 28"/>
          <p:cNvSpPr/>
          <p:nvPr/>
        </p:nvSpPr>
        <p:spPr>
          <a:xfrm>
            <a:off x="4857750" y="2739572"/>
            <a:ext cx="1528902" cy="325041"/>
          </a:xfrm>
          <a:prstGeom prst="rect">
            <a:avLst/>
          </a:prstGeom>
          <a:noFill/>
          <a:ln/>
        </p:spPr>
        <p:txBody>
          <a:bodyPr wrap="square" lIns="102108" tIns="102108" rIns="102108" bIns="102108" rtlCol="0" anchor="ctr">
            <a:spAutoFit/>
          </a:bodyPr>
          <a:lstStyle/>
          <a:p>
            <a:pPr algn="l" indent="0" marL="0">
              <a:buNone/>
            </a:pPr>
            <a:r>
              <a:rPr lang="en-US" sz="900" dirty="0">
                <a:solidFill>
                  <a:srgbClr val="CCD6F6"/>
                </a:solidFill>
                <a:latin typeface="Inter" pitchFamily="34" charset="0"/>
                <a:ea typeface="Inter" pitchFamily="34" charset="-122"/>
                <a:cs typeface="Inter" pitchFamily="34" charset="-120"/>
              </a:rPr>
              <a:t>Integrity</a:t>
            </a:r>
            <a:endParaRPr lang="en-US" sz="900" dirty="0"/>
          </a:p>
        </p:txBody>
      </p:sp>
      <p:sp>
        <p:nvSpPr>
          <p:cNvPr id="33" name="Text 29"/>
          <p:cNvSpPr/>
          <p:nvPr/>
        </p:nvSpPr>
        <p:spPr>
          <a:xfrm>
            <a:off x="6386652" y="2739572"/>
            <a:ext cx="2185848" cy="325041"/>
          </a:xfrm>
          <a:prstGeom prst="rect">
            <a:avLst/>
          </a:prstGeom>
          <a:noFill/>
          <a:ln/>
        </p:spPr>
        <p:txBody>
          <a:bodyPr wrap="square" lIns="102108" tIns="102108" rIns="102108" bIns="102108" rtlCol="0" anchor="ctr">
            <a:spAutoFit/>
          </a:bodyPr>
          <a:lstStyle/>
          <a:p>
            <a:pPr algn="l" indent="0" marL="0">
              <a:buNone/>
            </a:pPr>
            <a:r>
              <a:rPr lang="en-US" sz="900" dirty="0">
                <a:solidFill>
                  <a:srgbClr val="CCD6F6"/>
                </a:solidFill>
                <a:latin typeface="Inter" pitchFamily="34" charset="0"/>
                <a:ea typeface="Inter" pitchFamily="34" charset="-122"/>
                <a:cs typeface="Inter" pitchFamily="34" charset="-120"/>
              </a:rPr>
              <a:t>0 Missing Values</a:t>
            </a:r>
            <a:endParaRPr lang="en-US" sz="900" dirty="0"/>
          </a:p>
        </p:txBody>
      </p:sp>
      <p:sp>
        <p:nvSpPr>
          <p:cNvPr id="34" name="Text 30"/>
          <p:cNvSpPr/>
          <p:nvPr/>
        </p:nvSpPr>
        <p:spPr>
          <a:xfrm>
            <a:off x="4857750" y="3064613"/>
            <a:ext cx="1528902" cy="325041"/>
          </a:xfrm>
          <a:prstGeom prst="rect">
            <a:avLst/>
          </a:prstGeom>
          <a:noFill/>
          <a:ln/>
        </p:spPr>
        <p:txBody>
          <a:bodyPr wrap="square" lIns="102108" tIns="102108" rIns="102108" bIns="102108" rtlCol="0" anchor="ctr">
            <a:spAutoFit/>
          </a:bodyPr>
          <a:lstStyle/>
          <a:p>
            <a:pPr algn="l" indent="0" marL="0">
              <a:buNone/>
            </a:pPr>
            <a:r>
              <a:rPr lang="en-US" sz="900" dirty="0">
                <a:solidFill>
                  <a:srgbClr val="CCD6F6"/>
                </a:solidFill>
                <a:latin typeface="Inter" pitchFamily="34" charset="0"/>
                <a:ea typeface="Inter" pitchFamily="34" charset="-122"/>
                <a:cs typeface="Inter" pitchFamily="34" charset="-120"/>
              </a:rPr>
              <a:t>Duplicates</a:t>
            </a:r>
            <a:endParaRPr lang="en-US" sz="900" dirty="0"/>
          </a:p>
        </p:txBody>
      </p:sp>
      <p:sp>
        <p:nvSpPr>
          <p:cNvPr id="35" name="Text 31"/>
          <p:cNvSpPr/>
          <p:nvPr/>
        </p:nvSpPr>
        <p:spPr>
          <a:xfrm>
            <a:off x="6386652" y="3064613"/>
            <a:ext cx="2185848" cy="325041"/>
          </a:xfrm>
          <a:prstGeom prst="rect">
            <a:avLst/>
          </a:prstGeom>
          <a:noFill/>
          <a:ln/>
        </p:spPr>
        <p:txBody>
          <a:bodyPr wrap="square" lIns="102108" tIns="102108" rIns="102108" bIns="102108" rtlCol="0" anchor="ctr">
            <a:spAutoFit/>
          </a:bodyPr>
          <a:lstStyle/>
          <a:p>
            <a:pPr algn="l" indent="0" marL="0">
              <a:buNone/>
            </a:pPr>
            <a:r>
              <a:rPr lang="en-US" sz="900" dirty="0">
                <a:solidFill>
                  <a:srgbClr val="CCD6F6"/>
                </a:solidFill>
                <a:latin typeface="Inter" pitchFamily="34" charset="0"/>
                <a:ea typeface="Inter" pitchFamily="34" charset="-122"/>
                <a:cs typeface="Inter" pitchFamily="34" charset="-120"/>
              </a:rPr>
              <a:t>1 Identified &amp; Removed</a:t>
            </a:r>
            <a:endParaRPr lang="en-US" sz="900" dirty="0"/>
          </a:p>
        </p:txBody>
      </p:sp>
      <p:sp>
        <p:nvSpPr>
          <p:cNvPr id="36" name="Text 32"/>
          <p:cNvSpPr/>
          <p:nvPr/>
        </p:nvSpPr>
        <p:spPr>
          <a:xfrm>
            <a:off x="4857750" y="3389654"/>
            <a:ext cx="1528902" cy="325041"/>
          </a:xfrm>
          <a:prstGeom prst="rect">
            <a:avLst/>
          </a:prstGeom>
          <a:noFill/>
          <a:ln/>
        </p:spPr>
        <p:txBody>
          <a:bodyPr wrap="square" lIns="102108" tIns="102108" rIns="102108" bIns="102108" rtlCol="0" anchor="ctr">
            <a:spAutoFit/>
          </a:bodyPr>
          <a:lstStyle/>
          <a:p>
            <a:pPr algn="l" indent="0" marL="0">
              <a:buNone/>
            </a:pPr>
            <a:r>
              <a:rPr lang="en-US" sz="900" dirty="0">
                <a:solidFill>
                  <a:srgbClr val="CCD6F6"/>
                </a:solidFill>
                <a:latin typeface="Inter" pitchFamily="34" charset="0"/>
                <a:ea typeface="Inter" pitchFamily="34" charset="-122"/>
                <a:cs typeface="Inter" pitchFamily="34" charset="-120"/>
              </a:rPr>
              <a:t>Outliers</a:t>
            </a:r>
            <a:endParaRPr lang="en-US" sz="900" dirty="0"/>
          </a:p>
        </p:txBody>
      </p:sp>
      <p:sp>
        <p:nvSpPr>
          <p:cNvPr id="37" name="Text 33"/>
          <p:cNvSpPr/>
          <p:nvPr/>
        </p:nvSpPr>
        <p:spPr>
          <a:xfrm>
            <a:off x="6386652" y="3389654"/>
            <a:ext cx="2185848" cy="325041"/>
          </a:xfrm>
          <a:prstGeom prst="rect">
            <a:avLst/>
          </a:prstGeom>
          <a:noFill/>
          <a:ln/>
        </p:spPr>
        <p:txBody>
          <a:bodyPr wrap="square" lIns="102108" tIns="102108" rIns="102108" bIns="102108" rtlCol="0" anchor="ctr">
            <a:spAutoFit/>
          </a:bodyPr>
          <a:lstStyle/>
          <a:p>
            <a:pPr algn="l" indent="0" marL="0">
              <a:buNone/>
            </a:pPr>
            <a:r>
              <a:rPr lang="en-US" sz="900" dirty="0">
                <a:solidFill>
                  <a:srgbClr val="CCD6F6"/>
                </a:solidFill>
                <a:latin typeface="Inter" pitchFamily="34" charset="0"/>
                <a:ea typeface="Inter" pitchFamily="34" charset="-122"/>
                <a:cs typeface="Inter" pitchFamily="34" charset="-120"/>
              </a:rPr>
              <a:t>139 Identified in Charges</a:t>
            </a:r>
            <a:endParaRPr lang="en-US" sz="900" dirty="0"/>
          </a:p>
        </p:txBody>
      </p:sp>
      <p:sp>
        <p:nvSpPr>
          <p:cNvPr id="38" name="Text 34"/>
          <p:cNvSpPr/>
          <p:nvPr/>
        </p:nvSpPr>
        <p:spPr>
          <a:xfrm>
            <a:off x="4857750" y="3714694"/>
            <a:ext cx="1528902" cy="325041"/>
          </a:xfrm>
          <a:prstGeom prst="rect">
            <a:avLst/>
          </a:prstGeom>
          <a:noFill/>
          <a:ln/>
        </p:spPr>
        <p:txBody>
          <a:bodyPr wrap="square" lIns="102108" tIns="102108" rIns="102108" bIns="102108" rtlCol="0" anchor="ctr">
            <a:spAutoFit/>
          </a:bodyPr>
          <a:lstStyle/>
          <a:p>
            <a:pPr algn="l" indent="0" marL="0">
              <a:buNone/>
            </a:pPr>
            <a:r>
              <a:rPr lang="en-US" sz="900" dirty="0">
                <a:solidFill>
                  <a:srgbClr val="CCD6F6"/>
                </a:solidFill>
                <a:latin typeface="Inter" pitchFamily="34" charset="0"/>
                <a:ea typeface="Inter" pitchFamily="34" charset="-122"/>
                <a:cs typeface="Inter" pitchFamily="34" charset="-120"/>
              </a:rPr>
              <a:t>Target</a:t>
            </a:r>
            <a:endParaRPr lang="en-US" sz="900" dirty="0"/>
          </a:p>
        </p:txBody>
      </p:sp>
      <p:sp>
        <p:nvSpPr>
          <p:cNvPr id="39" name="Text 35"/>
          <p:cNvSpPr/>
          <p:nvPr/>
        </p:nvSpPr>
        <p:spPr>
          <a:xfrm>
            <a:off x="6386652" y="3714694"/>
            <a:ext cx="2185848" cy="325041"/>
          </a:xfrm>
          <a:prstGeom prst="rect">
            <a:avLst/>
          </a:prstGeom>
          <a:noFill/>
          <a:ln/>
        </p:spPr>
        <p:txBody>
          <a:bodyPr wrap="square" lIns="102108" tIns="102108" rIns="102108" bIns="102108" rtlCol="0" anchor="ctr">
            <a:spAutoFit/>
          </a:bodyPr>
          <a:lstStyle/>
          <a:p>
            <a:pPr algn="l" indent="0" marL="0">
              <a:buNone/>
            </a:pPr>
            <a:r>
              <a:rPr lang="en-US" sz="900" dirty="0">
                <a:solidFill>
                  <a:srgbClr val="CCD6F6"/>
                </a:solidFill>
                <a:latin typeface="Inter" pitchFamily="34" charset="0"/>
                <a:ea typeface="Inter" pitchFamily="34" charset="-122"/>
                <a:cs typeface="Inter" pitchFamily="34" charset="-120"/>
              </a:rPr>
              <a:t>Medical Charges (Billed)</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428625" y="515466"/>
            <a:ext cx="8715375" cy="414338"/>
          </a:xfrm>
          <a:prstGeom prst="rect">
            <a:avLst/>
          </a:prstGeom>
          <a:noFill/>
          <a:ln/>
        </p:spPr>
        <p:txBody>
          <a:bodyPr wrap="square" lIns="0" tIns="0" rIns="0" bIns="0" rtlCol="0" anchor="t">
            <a:spAutoFit/>
          </a:bodyPr>
          <a:lstStyle/>
          <a:p>
            <a:pPr algn="l" indent="0" marL="0">
              <a:buNone/>
            </a:pPr>
            <a:r>
              <a:rPr lang="en-US" sz="2450" b="1" dirty="0">
                <a:solidFill>
                  <a:srgbClr val="64FFDA"/>
                </a:solidFill>
                <a:latin typeface="Inter Black" pitchFamily="34" charset="0"/>
                <a:ea typeface="Inter Black" pitchFamily="34" charset="-122"/>
                <a:cs typeface="Inter Black" pitchFamily="34" charset="-120"/>
              </a:rPr>
              <a:t>METHODOLOGY</a:t>
            </a:r>
            <a:endParaRPr lang="en-US" sz="2450" dirty="0"/>
          </a:p>
        </p:txBody>
      </p:sp>
      <p:sp>
        <p:nvSpPr>
          <p:cNvPr id="5" name="Text 1"/>
          <p:cNvSpPr/>
          <p:nvPr/>
        </p:nvSpPr>
        <p:spPr>
          <a:xfrm>
            <a:off x="428625" y="1072093"/>
            <a:ext cx="8715375" cy="207169"/>
          </a:xfrm>
          <a:prstGeom prst="rect">
            <a:avLst/>
          </a:prstGeom>
          <a:noFill/>
          <a:ln/>
        </p:spPr>
        <p:txBody>
          <a:bodyPr wrap="square" lIns="0" tIns="0" rIns="0" bIns="0" rtlCol="0" anchor="t">
            <a:spAutoFit/>
          </a:bodyPr>
          <a:lstStyle/>
          <a:p>
            <a:pPr algn="l" indent="0" marL="0">
              <a:buNone/>
            </a:pPr>
            <a:r>
              <a:rPr lang="en-US" sz="1200" b="1" dirty="0">
                <a:solidFill>
                  <a:srgbClr val="8892B0"/>
                </a:solidFill>
                <a:latin typeface="Inter Bold" pitchFamily="34" charset="0"/>
                <a:ea typeface="Inter Bold" pitchFamily="34" charset="-122"/>
                <a:cs typeface="Inter Bold" pitchFamily="34" charset="-120"/>
              </a:rPr>
              <a:t>Course Outcome (CO) Mapping</a:t>
            </a:r>
            <a:endParaRPr lang="en-US" sz="1200" dirty="0"/>
          </a:p>
        </p:txBody>
      </p:sp>
      <p:sp>
        <p:nvSpPr>
          <p:cNvPr id="6" name="Shape 2"/>
          <p:cNvSpPr/>
          <p:nvPr/>
        </p:nvSpPr>
        <p:spPr>
          <a:xfrm>
            <a:off x="346472" y="1510847"/>
            <a:ext cx="717947" cy="308967"/>
          </a:xfrm>
          <a:prstGeom prst="rect">
            <a:avLst/>
          </a:prstGeom>
          <a:solidFill>
            <a:srgbClr val="112240"/>
          </a:solidFill>
          <a:ln/>
        </p:spPr>
      </p:sp>
      <p:sp>
        <p:nvSpPr>
          <p:cNvPr id="7" name="Shape 3"/>
          <p:cNvSpPr/>
          <p:nvPr/>
        </p:nvSpPr>
        <p:spPr>
          <a:xfrm>
            <a:off x="346472" y="1805527"/>
            <a:ext cx="717947" cy="14288"/>
          </a:xfrm>
          <a:prstGeom prst="rect">
            <a:avLst/>
          </a:prstGeom>
          <a:solidFill>
            <a:srgbClr val="64FFDA"/>
          </a:solidFill>
          <a:ln/>
        </p:spPr>
      </p:sp>
      <p:sp>
        <p:nvSpPr>
          <p:cNvPr id="8" name="Text 4"/>
          <p:cNvSpPr/>
          <p:nvPr/>
        </p:nvSpPr>
        <p:spPr>
          <a:xfrm>
            <a:off x="346472" y="1510847"/>
            <a:ext cx="717947" cy="308967"/>
          </a:xfrm>
          <a:prstGeom prst="rect">
            <a:avLst/>
          </a:prstGeom>
          <a:noFill/>
          <a:ln/>
        </p:spPr>
        <p:txBody>
          <a:bodyPr wrap="none" lIns="85090" tIns="85090" rIns="85090" bIns="85090" rtlCol="0" anchor="ctr">
            <a:spAutoFit/>
          </a:bodyPr>
          <a:lstStyle/>
          <a:p>
            <a:pPr algn="l" indent="0" marL="0">
              <a:buNone/>
            </a:pPr>
            <a:r>
              <a:rPr lang="en-US" sz="900" b="1" dirty="0">
                <a:solidFill>
                  <a:srgbClr val="64FFDA"/>
                </a:solidFill>
                <a:latin typeface="Inter Bold" pitchFamily="34" charset="0"/>
                <a:ea typeface="Inter Bold" pitchFamily="34" charset="-122"/>
                <a:cs typeface="Inter Bold" pitchFamily="34" charset="-120"/>
              </a:rPr>
              <a:t>CO</a:t>
            </a:r>
            <a:endParaRPr lang="en-US" sz="900" dirty="0"/>
          </a:p>
        </p:txBody>
      </p:sp>
      <p:sp>
        <p:nvSpPr>
          <p:cNvPr id="9" name="Shape 5"/>
          <p:cNvSpPr/>
          <p:nvPr/>
        </p:nvSpPr>
        <p:spPr>
          <a:xfrm>
            <a:off x="1064419" y="1510847"/>
            <a:ext cx="2428875" cy="308967"/>
          </a:xfrm>
          <a:prstGeom prst="rect">
            <a:avLst/>
          </a:prstGeom>
          <a:solidFill>
            <a:srgbClr val="112240"/>
          </a:solidFill>
          <a:ln/>
        </p:spPr>
      </p:sp>
      <p:sp>
        <p:nvSpPr>
          <p:cNvPr id="10" name="Shape 6"/>
          <p:cNvSpPr/>
          <p:nvPr/>
        </p:nvSpPr>
        <p:spPr>
          <a:xfrm>
            <a:off x="1064419" y="1805527"/>
            <a:ext cx="2428875" cy="14288"/>
          </a:xfrm>
          <a:prstGeom prst="rect">
            <a:avLst/>
          </a:prstGeom>
          <a:solidFill>
            <a:srgbClr val="64FFDA"/>
          </a:solidFill>
          <a:ln/>
        </p:spPr>
      </p:sp>
      <p:sp>
        <p:nvSpPr>
          <p:cNvPr id="11" name="Text 7"/>
          <p:cNvSpPr/>
          <p:nvPr/>
        </p:nvSpPr>
        <p:spPr>
          <a:xfrm>
            <a:off x="1064419" y="1510847"/>
            <a:ext cx="2428875" cy="308967"/>
          </a:xfrm>
          <a:prstGeom prst="rect">
            <a:avLst/>
          </a:prstGeom>
          <a:noFill/>
          <a:ln/>
        </p:spPr>
        <p:txBody>
          <a:bodyPr wrap="square" lIns="85090" tIns="85090" rIns="85090" bIns="85090" rtlCol="0" anchor="ctr">
            <a:spAutoFit/>
          </a:bodyPr>
          <a:lstStyle/>
          <a:p>
            <a:pPr algn="l" indent="0" marL="0">
              <a:buNone/>
            </a:pPr>
            <a:r>
              <a:rPr lang="en-US" sz="900" b="1" dirty="0">
                <a:solidFill>
                  <a:srgbClr val="64FFDA"/>
                </a:solidFill>
                <a:latin typeface="Inter Bold" pitchFamily="34" charset="0"/>
                <a:ea typeface="Inter Bold" pitchFamily="34" charset="-122"/>
                <a:cs typeface="Inter Bold" pitchFamily="34" charset="-120"/>
              </a:rPr>
              <a:t>FOCUS AREA</a:t>
            </a:r>
            <a:endParaRPr lang="en-US" sz="900" dirty="0"/>
          </a:p>
        </p:txBody>
      </p:sp>
      <p:sp>
        <p:nvSpPr>
          <p:cNvPr id="12" name="Shape 8"/>
          <p:cNvSpPr/>
          <p:nvPr/>
        </p:nvSpPr>
        <p:spPr>
          <a:xfrm>
            <a:off x="3493294" y="1510847"/>
            <a:ext cx="5304234" cy="308967"/>
          </a:xfrm>
          <a:prstGeom prst="rect">
            <a:avLst/>
          </a:prstGeom>
          <a:solidFill>
            <a:srgbClr val="112240"/>
          </a:solidFill>
          <a:ln/>
        </p:spPr>
      </p:sp>
      <p:sp>
        <p:nvSpPr>
          <p:cNvPr id="13" name="Shape 9"/>
          <p:cNvSpPr/>
          <p:nvPr/>
        </p:nvSpPr>
        <p:spPr>
          <a:xfrm>
            <a:off x="3493294" y="1805527"/>
            <a:ext cx="5304234" cy="14288"/>
          </a:xfrm>
          <a:prstGeom prst="rect">
            <a:avLst/>
          </a:prstGeom>
          <a:solidFill>
            <a:srgbClr val="64FFDA"/>
          </a:solidFill>
          <a:ln/>
        </p:spPr>
      </p:sp>
      <p:sp>
        <p:nvSpPr>
          <p:cNvPr id="14" name="Text 10"/>
          <p:cNvSpPr/>
          <p:nvPr/>
        </p:nvSpPr>
        <p:spPr>
          <a:xfrm>
            <a:off x="3493294" y="1510847"/>
            <a:ext cx="5304234" cy="308967"/>
          </a:xfrm>
          <a:prstGeom prst="rect">
            <a:avLst/>
          </a:prstGeom>
          <a:noFill/>
          <a:ln/>
        </p:spPr>
        <p:txBody>
          <a:bodyPr wrap="square" lIns="85090" tIns="85090" rIns="85090" bIns="85090" rtlCol="0" anchor="ctr">
            <a:spAutoFit/>
          </a:bodyPr>
          <a:lstStyle/>
          <a:p>
            <a:pPr algn="l" indent="0" marL="0">
              <a:buNone/>
            </a:pPr>
            <a:r>
              <a:rPr lang="en-US" sz="900" b="1" dirty="0">
                <a:solidFill>
                  <a:srgbClr val="64FFDA"/>
                </a:solidFill>
                <a:latin typeface="Inter Bold" pitchFamily="34" charset="0"/>
                <a:ea typeface="Inter Bold" pitchFamily="34" charset="-122"/>
                <a:cs typeface="Inter Bold" pitchFamily="34" charset="-120"/>
              </a:rPr>
              <a:t>KEY TECHNIQUES APPLIED</a:t>
            </a:r>
            <a:endParaRPr lang="en-US" sz="900" dirty="0"/>
          </a:p>
        </p:txBody>
      </p:sp>
      <p:sp>
        <p:nvSpPr>
          <p:cNvPr id="15" name="Text 11"/>
          <p:cNvSpPr/>
          <p:nvPr/>
        </p:nvSpPr>
        <p:spPr>
          <a:xfrm>
            <a:off x="346472" y="1812671"/>
            <a:ext cx="717947" cy="277881"/>
          </a:xfrm>
          <a:prstGeom prst="rect">
            <a:avLst/>
          </a:prstGeom>
          <a:noFill/>
          <a:ln/>
        </p:spPr>
        <p:txBody>
          <a:bodyPr wrap="square" lIns="85090" tIns="68072" rIns="85090" bIns="68072" rtlCol="0" anchor="ctr">
            <a:spAutoFit/>
          </a:bodyPr>
          <a:lstStyle/>
          <a:p>
            <a:pPr algn="l" indent="0" marL="0">
              <a:lnSpc>
                <a:spcPct val="112000"/>
              </a:lnSpc>
              <a:buNone/>
            </a:pPr>
            <a:r>
              <a:rPr lang="en-US" sz="800" b="1" dirty="0">
                <a:solidFill>
                  <a:srgbClr val="64FFDA"/>
                </a:solidFill>
                <a:latin typeface="Inter Black" pitchFamily="34" charset="0"/>
                <a:ea typeface="Inter Black" pitchFamily="34" charset="-122"/>
                <a:cs typeface="Inter Black" pitchFamily="34" charset="-120"/>
              </a:rPr>
              <a:t>CO1</a:t>
            </a:r>
            <a:endParaRPr lang="en-US" sz="800" dirty="0"/>
          </a:p>
        </p:txBody>
      </p:sp>
      <p:sp>
        <p:nvSpPr>
          <p:cNvPr id="16" name="Text 12"/>
          <p:cNvSpPr/>
          <p:nvPr/>
        </p:nvSpPr>
        <p:spPr>
          <a:xfrm>
            <a:off x="1064419" y="1812671"/>
            <a:ext cx="2428875" cy="277881"/>
          </a:xfrm>
          <a:prstGeom prst="rect">
            <a:avLst/>
          </a:prstGeom>
          <a:noFill/>
          <a:ln/>
        </p:spPr>
        <p:txBody>
          <a:bodyPr wrap="square" lIns="85090" tIns="68072" rIns="85090" bIns="68072" rtlCol="0" anchor="ctr">
            <a:spAutoFit/>
          </a:bodyPr>
          <a:lstStyle/>
          <a:p>
            <a:pPr algn="l" indent="0" marL="0">
              <a:lnSpc>
                <a:spcPct val="112000"/>
              </a:lnSpc>
              <a:buNone/>
            </a:pPr>
            <a:r>
              <a:rPr lang="en-US" sz="800" b="1" dirty="0">
                <a:solidFill>
                  <a:srgbClr val="CCD6F6"/>
                </a:solidFill>
                <a:latin typeface="Inter Bold" pitchFamily="34" charset="0"/>
                <a:ea typeface="Inter Bold" pitchFamily="34" charset="-122"/>
                <a:cs typeface="Inter Bold" pitchFamily="34" charset="-120"/>
              </a:rPr>
              <a:t>Data Understanding &amp; Preprocessing</a:t>
            </a:r>
            <a:endParaRPr lang="en-US" sz="800" dirty="0"/>
          </a:p>
        </p:txBody>
      </p:sp>
      <p:sp>
        <p:nvSpPr>
          <p:cNvPr id="17" name="Text 13"/>
          <p:cNvSpPr/>
          <p:nvPr/>
        </p:nvSpPr>
        <p:spPr>
          <a:xfrm>
            <a:off x="3493294" y="1812671"/>
            <a:ext cx="5304234" cy="277881"/>
          </a:xfrm>
          <a:prstGeom prst="rect">
            <a:avLst/>
          </a:prstGeom>
          <a:noFill/>
          <a:ln/>
        </p:spPr>
        <p:txBody>
          <a:bodyPr wrap="square" lIns="85090" tIns="68072" rIns="85090" bIns="68072" rtlCol="0" anchor="ctr">
            <a:spAutoFit/>
          </a:bodyPr>
          <a:lstStyle/>
          <a:p>
            <a:pPr algn="l" indent="0" marL="0">
              <a:lnSpc>
                <a:spcPct val="112000"/>
              </a:lnSpc>
              <a:buNone/>
            </a:pPr>
            <a:r>
              <a:rPr lang="en-US" sz="850" dirty="0">
                <a:solidFill>
                  <a:srgbClr val="CCD6F6"/>
                </a:solidFill>
                <a:latin typeface="Inter" pitchFamily="34" charset="0"/>
                <a:ea typeface="Inter" pitchFamily="34" charset="-122"/>
                <a:cs typeface="Inter" pitchFamily="34" charset="-120"/>
              </a:rPr>
              <a:t>Handling missing data, duplicate removal, IQR-based outlier detection.</a:t>
            </a:r>
            <a:endParaRPr lang="en-US" sz="850" dirty="0"/>
          </a:p>
        </p:txBody>
      </p:sp>
      <p:sp>
        <p:nvSpPr>
          <p:cNvPr id="18" name="Shape 14"/>
          <p:cNvSpPr/>
          <p:nvPr/>
        </p:nvSpPr>
        <p:spPr>
          <a:xfrm>
            <a:off x="346472" y="2090551"/>
            <a:ext cx="8451056" cy="281453"/>
          </a:xfrm>
          <a:prstGeom prst="rect">
            <a:avLst/>
          </a:prstGeom>
          <a:solidFill>
            <a:srgbClr val="0D1D36"/>
          </a:solidFill>
          <a:ln/>
        </p:spPr>
      </p:sp>
      <p:sp>
        <p:nvSpPr>
          <p:cNvPr id="19" name="Text 15"/>
          <p:cNvSpPr/>
          <p:nvPr/>
        </p:nvSpPr>
        <p:spPr>
          <a:xfrm>
            <a:off x="346472" y="2090551"/>
            <a:ext cx="717947" cy="281453"/>
          </a:xfrm>
          <a:prstGeom prst="rect">
            <a:avLst/>
          </a:prstGeom>
          <a:noFill/>
          <a:ln/>
        </p:spPr>
        <p:txBody>
          <a:bodyPr wrap="square" lIns="85090" tIns="68072" rIns="85090" bIns="68072" rtlCol="0" anchor="ctr">
            <a:spAutoFit/>
          </a:bodyPr>
          <a:lstStyle/>
          <a:p>
            <a:pPr algn="l" indent="0" marL="0">
              <a:lnSpc>
                <a:spcPct val="112000"/>
              </a:lnSpc>
              <a:buNone/>
            </a:pPr>
            <a:r>
              <a:rPr lang="en-US" sz="800" b="1" dirty="0">
                <a:solidFill>
                  <a:srgbClr val="64FFDA"/>
                </a:solidFill>
                <a:latin typeface="Inter Black" pitchFamily="34" charset="0"/>
                <a:ea typeface="Inter Black" pitchFamily="34" charset="-122"/>
                <a:cs typeface="Inter Black" pitchFamily="34" charset="-120"/>
              </a:rPr>
              <a:t>CO2</a:t>
            </a:r>
            <a:endParaRPr lang="en-US" sz="800" dirty="0"/>
          </a:p>
        </p:txBody>
      </p:sp>
      <p:sp>
        <p:nvSpPr>
          <p:cNvPr id="20" name="Text 16"/>
          <p:cNvSpPr/>
          <p:nvPr/>
        </p:nvSpPr>
        <p:spPr>
          <a:xfrm>
            <a:off x="1064419" y="2090551"/>
            <a:ext cx="2428875" cy="281453"/>
          </a:xfrm>
          <a:prstGeom prst="rect">
            <a:avLst/>
          </a:prstGeom>
          <a:noFill/>
          <a:ln/>
        </p:spPr>
        <p:txBody>
          <a:bodyPr wrap="square" lIns="85090" tIns="68072" rIns="85090" bIns="68072" rtlCol="0" anchor="ctr">
            <a:spAutoFit/>
          </a:bodyPr>
          <a:lstStyle/>
          <a:p>
            <a:pPr algn="l" indent="0" marL="0">
              <a:lnSpc>
                <a:spcPct val="112000"/>
              </a:lnSpc>
              <a:buNone/>
            </a:pPr>
            <a:r>
              <a:rPr lang="en-US" sz="800" b="1" dirty="0">
                <a:solidFill>
                  <a:srgbClr val="CCD6F6"/>
                </a:solidFill>
                <a:latin typeface="Inter Bold" pitchFamily="34" charset="0"/>
                <a:ea typeface="Inter Bold" pitchFamily="34" charset="-122"/>
                <a:cs typeface="Inter Bold" pitchFamily="34" charset="-120"/>
              </a:rPr>
              <a:t>Descriptive Statistics</a:t>
            </a:r>
            <a:endParaRPr lang="en-US" sz="800" dirty="0"/>
          </a:p>
        </p:txBody>
      </p:sp>
      <p:sp>
        <p:nvSpPr>
          <p:cNvPr id="21" name="Text 17"/>
          <p:cNvSpPr/>
          <p:nvPr/>
        </p:nvSpPr>
        <p:spPr>
          <a:xfrm>
            <a:off x="3493294" y="2090551"/>
            <a:ext cx="5304234" cy="281453"/>
          </a:xfrm>
          <a:prstGeom prst="rect">
            <a:avLst/>
          </a:prstGeom>
          <a:noFill/>
          <a:ln/>
        </p:spPr>
        <p:txBody>
          <a:bodyPr wrap="square" lIns="85090" tIns="68072" rIns="85090" bIns="68072" rtlCol="0" anchor="ctr">
            <a:spAutoFit/>
          </a:bodyPr>
          <a:lstStyle/>
          <a:p>
            <a:pPr algn="l" indent="0" marL="0">
              <a:lnSpc>
                <a:spcPct val="112000"/>
              </a:lnSpc>
              <a:buNone/>
            </a:pPr>
            <a:r>
              <a:rPr lang="en-US" sz="850" dirty="0">
                <a:solidFill>
                  <a:srgbClr val="CCD6F6"/>
                </a:solidFill>
                <a:latin typeface="Inter" pitchFamily="34" charset="0"/>
                <a:ea typeface="Inter" pitchFamily="34" charset="-122"/>
                <a:cs typeface="Inter" pitchFamily="34" charset="-120"/>
              </a:rPr>
              <a:t>Measures of central tendency, dispersion, shape (skewness/kurtosis).</a:t>
            </a:r>
            <a:endParaRPr lang="en-US" sz="850" dirty="0"/>
          </a:p>
        </p:txBody>
      </p:sp>
      <p:sp>
        <p:nvSpPr>
          <p:cNvPr id="22" name="Text 18"/>
          <p:cNvSpPr/>
          <p:nvPr/>
        </p:nvSpPr>
        <p:spPr>
          <a:xfrm>
            <a:off x="346472" y="2372004"/>
            <a:ext cx="717947" cy="281453"/>
          </a:xfrm>
          <a:prstGeom prst="rect">
            <a:avLst/>
          </a:prstGeom>
          <a:noFill/>
          <a:ln/>
        </p:spPr>
        <p:txBody>
          <a:bodyPr wrap="square" lIns="85090" tIns="68072" rIns="85090" bIns="68072" rtlCol="0" anchor="ctr">
            <a:spAutoFit/>
          </a:bodyPr>
          <a:lstStyle/>
          <a:p>
            <a:pPr algn="l" indent="0" marL="0">
              <a:lnSpc>
                <a:spcPct val="112000"/>
              </a:lnSpc>
              <a:buNone/>
            </a:pPr>
            <a:r>
              <a:rPr lang="en-US" sz="800" b="1" dirty="0">
                <a:solidFill>
                  <a:srgbClr val="64FFDA"/>
                </a:solidFill>
                <a:latin typeface="Inter Black" pitchFamily="34" charset="0"/>
                <a:ea typeface="Inter Black" pitchFamily="34" charset="-122"/>
                <a:cs typeface="Inter Black" pitchFamily="34" charset="-120"/>
              </a:rPr>
              <a:t>CO3</a:t>
            </a:r>
            <a:endParaRPr lang="en-US" sz="800" dirty="0"/>
          </a:p>
        </p:txBody>
      </p:sp>
      <p:sp>
        <p:nvSpPr>
          <p:cNvPr id="23" name="Text 19"/>
          <p:cNvSpPr/>
          <p:nvPr/>
        </p:nvSpPr>
        <p:spPr>
          <a:xfrm>
            <a:off x="1064419" y="2372004"/>
            <a:ext cx="2428875" cy="281453"/>
          </a:xfrm>
          <a:prstGeom prst="rect">
            <a:avLst/>
          </a:prstGeom>
          <a:noFill/>
          <a:ln/>
        </p:spPr>
        <p:txBody>
          <a:bodyPr wrap="square" lIns="85090" tIns="68072" rIns="85090" bIns="68072" rtlCol="0" anchor="ctr">
            <a:spAutoFit/>
          </a:bodyPr>
          <a:lstStyle/>
          <a:p>
            <a:pPr algn="l" indent="0" marL="0">
              <a:lnSpc>
                <a:spcPct val="112000"/>
              </a:lnSpc>
              <a:buNone/>
            </a:pPr>
            <a:r>
              <a:rPr lang="en-US" sz="800" b="1" dirty="0">
                <a:solidFill>
                  <a:srgbClr val="CCD6F6"/>
                </a:solidFill>
                <a:latin typeface="Inter Bold" pitchFamily="34" charset="0"/>
                <a:ea typeface="Inter Bold" pitchFamily="34" charset="-122"/>
                <a:cs typeface="Inter Bold" pitchFamily="34" charset="-120"/>
              </a:rPr>
              <a:t>Probability &amp; Distributions</a:t>
            </a:r>
            <a:endParaRPr lang="en-US" sz="800" dirty="0"/>
          </a:p>
        </p:txBody>
      </p:sp>
      <p:sp>
        <p:nvSpPr>
          <p:cNvPr id="24" name="Text 20"/>
          <p:cNvSpPr/>
          <p:nvPr/>
        </p:nvSpPr>
        <p:spPr>
          <a:xfrm>
            <a:off x="3493294" y="2372004"/>
            <a:ext cx="5304234" cy="281453"/>
          </a:xfrm>
          <a:prstGeom prst="rect">
            <a:avLst/>
          </a:prstGeom>
          <a:noFill/>
          <a:ln/>
        </p:spPr>
        <p:txBody>
          <a:bodyPr wrap="square" lIns="85090" tIns="68072" rIns="85090" bIns="68072" rtlCol="0" anchor="ctr">
            <a:spAutoFit/>
          </a:bodyPr>
          <a:lstStyle/>
          <a:p>
            <a:pPr algn="l" indent="0" marL="0">
              <a:lnSpc>
                <a:spcPct val="112000"/>
              </a:lnSpc>
              <a:buNone/>
            </a:pPr>
            <a:r>
              <a:rPr lang="en-US" sz="850" dirty="0">
                <a:solidFill>
                  <a:srgbClr val="CCD6F6"/>
                </a:solidFill>
                <a:latin typeface="Inter" pitchFamily="34" charset="0"/>
                <a:ea typeface="Inter" pitchFamily="34" charset="-122"/>
                <a:cs typeface="Inter" pitchFamily="34" charset="-120"/>
              </a:rPr>
              <a:t>Conditional probability, Bayes' Theorem, Bernoulli/Binomial/Normal distributions.</a:t>
            </a:r>
            <a:endParaRPr lang="en-US" sz="850" dirty="0"/>
          </a:p>
        </p:txBody>
      </p:sp>
      <p:sp>
        <p:nvSpPr>
          <p:cNvPr id="25" name="Shape 21"/>
          <p:cNvSpPr/>
          <p:nvPr/>
        </p:nvSpPr>
        <p:spPr>
          <a:xfrm>
            <a:off x="346472" y="2653457"/>
            <a:ext cx="8451056" cy="281453"/>
          </a:xfrm>
          <a:prstGeom prst="rect">
            <a:avLst/>
          </a:prstGeom>
          <a:solidFill>
            <a:srgbClr val="0D1D36"/>
          </a:solidFill>
          <a:ln/>
        </p:spPr>
      </p:sp>
      <p:sp>
        <p:nvSpPr>
          <p:cNvPr id="26" name="Text 22"/>
          <p:cNvSpPr/>
          <p:nvPr/>
        </p:nvSpPr>
        <p:spPr>
          <a:xfrm>
            <a:off x="346472" y="2653457"/>
            <a:ext cx="717947" cy="281453"/>
          </a:xfrm>
          <a:prstGeom prst="rect">
            <a:avLst/>
          </a:prstGeom>
          <a:noFill/>
          <a:ln/>
        </p:spPr>
        <p:txBody>
          <a:bodyPr wrap="square" lIns="85090" tIns="68072" rIns="85090" bIns="68072" rtlCol="0" anchor="ctr">
            <a:spAutoFit/>
          </a:bodyPr>
          <a:lstStyle/>
          <a:p>
            <a:pPr algn="l" indent="0" marL="0">
              <a:lnSpc>
                <a:spcPct val="112000"/>
              </a:lnSpc>
              <a:buNone/>
            </a:pPr>
            <a:r>
              <a:rPr lang="en-US" sz="800" b="1" dirty="0">
                <a:solidFill>
                  <a:srgbClr val="64FFDA"/>
                </a:solidFill>
                <a:latin typeface="Inter Black" pitchFamily="34" charset="0"/>
                <a:ea typeface="Inter Black" pitchFamily="34" charset="-122"/>
                <a:cs typeface="Inter Black" pitchFamily="34" charset="-120"/>
              </a:rPr>
              <a:t>CO4</a:t>
            </a:r>
            <a:endParaRPr lang="en-US" sz="800" dirty="0"/>
          </a:p>
        </p:txBody>
      </p:sp>
      <p:sp>
        <p:nvSpPr>
          <p:cNvPr id="27" name="Text 23"/>
          <p:cNvSpPr/>
          <p:nvPr/>
        </p:nvSpPr>
        <p:spPr>
          <a:xfrm>
            <a:off x="1064419" y="2653457"/>
            <a:ext cx="2428875" cy="281453"/>
          </a:xfrm>
          <a:prstGeom prst="rect">
            <a:avLst/>
          </a:prstGeom>
          <a:noFill/>
          <a:ln/>
        </p:spPr>
        <p:txBody>
          <a:bodyPr wrap="square" lIns="85090" tIns="68072" rIns="85090" bIns="68072" rtlCol="0" anchor="ctr">
            <a:spAutoFit/>
          </a:bodyPr>
          <a:lstStyle/>
          <a:p>
            <a:pPr algn="l" indent="0" marL="0">
              <a:lnSpc>
                <a:spcPct val="112000"/>
              </a:lnSpc>
              <a:buNone/>
            </a:pPr>
            <a:r>
              <a:rPr lang="en-US" sz="800" b="1" dirty="0">
                <a:solidFill>
                  <a:srgbClr val="CCD6F6"/>
                </a:solidFill>
                <a:latin typeface="Inter Bold" pitchFamily="34" charset="0"/>
                <a:ea typeface="Inter Bold" pitchFamily="34" charset="-122"/>
                <a:cs typeface="Inter Bold" pitchFamily="34" charset="-120"/>
              </a:rPr>
              <a:t>Statistical Inference</a:t>
            </a:r>
            <a:endParaRPr lang="en-US" sz="800" dirty="0"/>
          </a:p>
        </p:txBody>
      </p:sp>
      <p:sp>
        <p:nvSpPr>
          <p:cNvPr id="28" name="Text 24"/>
          <p:cNvSpPr/>
          <p:nvPr/>
        </p:nvSpPr>
        <p:spPr>
          <a:xfrm>
            <a:off x="3493294" y="2653457"/>
            <a:ext cx="5304234" cy="281453"/>
          </a:xfrm>
          <a:prstGeom prst="rect">
            <a:avLst/>
          </a:prstGeom>
          <a:noFill/>
          <a:ln/>
        </p:spPr>
        <p:txBody>
          <a:bodyPr wrap="square" lIns="85090" tIns="68072" rIns="85090" bIns="68072" rtlCol="0" anchor="ctr">
            <a:spAutoFit/>
          </a:bodyPr>
          <a:lstStyle/>
          <a:p>
            <a:pPr algn="l" indent="0" marL="0">
              <a:lnSpc>
                <a:spcPct val="112000"/>
              </a:lnSpc>
              <a:buNone/>
            </a:pPr>
            <a:r>
              <a:rPr lang="en-US" sz="850" dirty="0">
                <a:solidFill>
                  <a:srgbClr val="CCD6F6"/>
                </a:solidFill>
                <a:latin typeface="Inter" pitchFamily="34" charset="0"/>
                <a:ea typeface="Inter" pitchFamily="34" charset="-122"/>
                <a:cs typeface="Inter" pitchFamily="34" charset="-120"/>
              </a:rPr>
              <a:t>Central Limit Theorem, 95% Confidence Intervals, Two-Sample t-Test.</a:t>
            </a:r>
            <a:endParaRPr lang="en-US" sz="850" dirty="0"/>
          </a:p>
        </p:txBody>
      </p:sp>
      <p:sp>
        <p:nvSpPr>
          <p:cNvPr id="29" name="Text 25"/>
          <p:cNvSpPr/>
          <p:nvPr/>
        </p:nvSpPr>
        <p:spPr>
          <a:xfrm>
            <a:off x="346472" y="2934909"/>
            <a:ext cx="717947" cy="281453"/>
          </a:xfrm>
          <a:prstGeom prst="rect">
            <a:avLst/>
          </a:prstGeom>
          <a:noFill/>
          <a:ln/>
        </p:spPr>
        <p:txBody>
          <a:bodyPr wrap="square" lIns="85090" tIns="68072" rIns="85090" bIns="68072" rtlCol="0" anchor="ctr">
            <a:spAutoFit/>
          </a:bodyPr>
          <a:lstStyle/>
          <a:p>
            <a:pPr algn="l" indent="0" marL="0">
              <a:lnSpc>
                <a:spcPct val="112000"/>
              </a:lnSpc>
              <a:buNone/>
            </a:pPr>
            <a:r>
              <a:rPr lang="en-US" sz="800" b="1" dirty="0">
                <a:solidFill>
                  <a:srgbClr val="64FFDA"/>
                </a:solidFill>
                <a:latin typeface="Inter Black" pitchFamily="34" charset="0"/>
                <a:ea typeface="Inter Black" pitchFamily="34" charset="-122"/>
                <a:cs typeface="Inter Black" pitchFamily="34" charset="-120"/>
              </a:rPr>
              <a:t>CO5</a:t>
            </a:r>
            <a:endParaRPr lang="en-US" sz="800" dirty="0"/>
          </a:p>
        </p:txBody>
      </p:sp>
      <p:sp>
        <p:nvSpPr>
          <p:cNvPr id="30" name="Text 26"/>
          <p:cNvSpPr/>
          <p:nvPr/>
        </p:nvSpPr>
        <p:spPr>
          <a:xfrm>
            <a:off x="1064419" y="2934909"/>
            <a:ext cx="2428875" cy="281453"/>
          </a:xfrm>
          <a:prstGeom prst="rect">
            <a:avLst/>
          </a:prstGeom>
          <a:noFill/>
          <a:ln/>
        </p:spPr>
        <p:txBody>
          <a:bodyPr wrap="square" lIns="85090" tIns="68072" rIns="85090" bIns="68072" rtlCol="0" anchor="ctr">
            <a:spAutoFit/>
          </a:bodyPr>
          <a:lstStyle/>
          <a:p>
            <a:pPr algn="l" indent="0" marL="0">
              <a:lnSpc>
                <a:spcPct val="112000"/>
              </a:lnSpc>
              <a:buNone/>
            </a:pPr>
            <a:r>
              <a:rPr lang="en-US" sz="800" b="1" dirty="0">
                <a:solidFill>
                  <a:srgbClr val="CCD6F6"/>
                </a:solidFill>
                <a:latin typeface="Inter Bold" pitchFamily="34" charset="0"/>
                <a:ea typeface="Inter Bold" pitchFamily="34" charset="-122"/>
                <a:cs typeface="Inter Bold" pitchFamily="34" charset="-120"/>
              </a:rPr>
              <a:t>Correlation &amp; Regression</a:t>
            </a:r>
            <a:endParaRPr lang="en-US" sz="800" dirty="0"/>
          </a:p>
        </p:txBody>
      </p:sp>
      <p:sp>
        <p:nvSpPr>
          <p:cNvPr id="31" name="Text 27"/>
          <p:cNvSpPr/>
          <p:nvPr/>
        </p:nvSpPr>
        <p:spPr>
          <a:xfrm>
            <a:off x="3493294" y="2934909"/>
            <a:ext cx="5304234" cy="281453"/>
          </a:xfrm>
          <a:prstGeom prst="rect">
            <a:avLst/>
          </a:prstGeom>
          <a:noFill/>
          <a:ln/>
        </p:spPr>
        <p:txBody>
          <a:bodyPr wrap="square" lIns="85090" tIns="68072" rIns="85090" bIns="68072" rtlCol="0" anchor="ctr">
            <a:spAutoFit/>
          </a:bodyPr>
          <a:lstStyle/>
          <a:p>
            <a:pPr algn="l" indent="0" marL="0">
              <a:lnSpc>
                <a:spcPct val="112000"/>
              </a:lnSpc>
              <a:buNone/>
            </a:pPr>
            <a:r>
              <a:rPr lang="en-US" sz="850" dirty="0">
                <a:solidFill>
                  <a:srgbClr val="CCD6F6"/>
                </a:solidFill>
                <a:latin typeface="Inter" pitchFamily="34" charset="0"/>
                <a:ea typeface="Inter" pitchFamily="34" charset="-122"/>
                <a:cs typeface="Inter" pitchFamily="34" charset="-120"/>
              </a:rPr>
              <a:t>Covariance analysis, Pearson correlation coefficients, Simple Linear Regression.</a:t>
            </a:r>
            <a:endParaRPr lang="en-US" sz="850" dirty="0"/>
          </a:p>
        </p:txBody>
      </p:sp>
      <p:sp>
        <p:nvSpPr>
          <p:cNvPr id="32" name="Shape 28"/>
          <p:cNvSpPr/>
          <p:nvPr/>
        </p:nvSpPr>
        <p:spPr>
          <a:xfrm>
            <a:off x="346472" y="3216362"/>
            <a:ext cx="8451056" cy="281453"/>
          </a:xfrm>
          <a:prstGeom prst="rect">
            <a:avLst/>
          </a:prstGeom>
          <a:solidFill>
            <a:srgbClr val="0D1D36"/>
          </a:solidFill>
          <a:ln/>
        </p:spPr>
      </p:sp>
      <p:sp>
        <p:nvSpPr>
          <p:cNvPr id="33" name="Text 29"/>
          <p:cNvSpPr/>
          <p:nvPr/>
        </p:nvSpPr>
        <p:spPr>
          <a:xfrm>
            <a:off x="346472" y="3216362"/>
            <a:ext cx="717947" cy="281453"/>
          </a:xfrm>
          <a:prstGeom prst="rect">
            <a:avLst/>
          </a:prstGeom>
          <a:noFill/>
          <a:ln/>
        </p:spPr>
        <p:txBody>
          <a:bodyPr wrap="square" lIns="85090" tIns="68072" rIns="85090" bIns="68072" rtlCol="0" anchor="ctr">
            <a:spAutoFit/>
          </a:bodyPr>
          <a:lstStyle/>
          <a:p>
            <a:pPr algn="l" indent="0" marL="0">
              <a:lnSpc>
                <a:spcPct val="112000"/>
              </a:lnSpc>
              <a:buNone/>
            </a:pPr>
            <a:r>
              <a:rPr lang="en-US" sz="800" b="1" dirty="0">
                <a:solidFill>
                  <a:srgbClr val="64FFDA"/>
                </a:solidFill>
                <a:latin typeface="Inter Black" pitchFamily="34" charset="0"/>
                <a:ea typeface="Inter Black" pitchFamily="34" charset="-122"/>
                <a:cs typeface="Inter Black" pitchFamily="34" charset="-120"/>
              </a:rPr>
              <a:t>CO6</a:t>
            </a:r>
            <a:endParaRPr lang="en-US" sz="800" dirty="0"/>
          </a:p>
        </p:txBody>
      </p:sp>
      <p:sp>
        <p:nvSpPr>
          <p:cNvPr id="34" name="Text 30"/>
          <p:cNvSpPr/>
          <p:nvPr/>
        </p:nvSpPr>
        <p:spPr>
          <a:xfrm>
            <a:off x="1064419" y="3216362"/>
            <a:ext cx="2428875" cy="281453"/>
          </a:xfrm>
          <a:prstGeom prst="rect">
            <a:avLst/>
          </a:prstGeom>
          <a:noFill/>
          <a:ln/>
        </p:spPr>
        <p:txBody>
          <a:bodyPr wrap="square" lIns="85090" tIns="68072" rIns="85090" bIns="68072" rtlCol="0" anchor="ctr">
            <a:spAutoFit/>
          </a:bodyPr>
          <a:lstStyle/>
          <a:p>
            <a:pPr algn="l" indent="0" marL="0">
              <a:lnSpc>
                <a:spcPct val="112000"/>
              </a:lnSpc>
              <a:buNone/>
            </a:pPr>
            <a:r>
              <a:rPr lang="en-US" sz="800" b="1" dirty="0">
                <a:solidFill>
                  <a:srgbClr val="CCD6F6"/>
                </a:solidFill>
                <a:latin typeface="Inter Bold" pitchFamily="34" charset="0"/>
                <a:ea typeface="Inter Bold" pitchFamily="34" charset="-122"/>
                <a:cs typeface="Inter Bold" pitchFamily="34" charset="-120"/>
              </a:rPr>
              <a:t>Evaluation &amp; Decision Making</a:t>
            </a:r>
            <a:endParaRPr lang="en-US" sz="800" dirty="0"/>
          </a:p>
        </p:txBody>
      </p:sp>
      <p:sp>
        <p:nvSpPr>
          <p:cNvPr id="35" name="Text 31"/>
          <p:cNvSpPr/>
          <p:nvPr/>
        </p:nvSpPr>
        <p:spPr>
          <a:xfrm>
            <a:off x="3493294" y="3216362"/>
            <a:ext cx="5304234" cy="281453"/>
          </a:xfrm>
          <a:prstGeom prst="rect">
            <a:avLst/>
          </a:prstGeom>
          <a:noFill/>
          <a:ln/>
        </p:spPr>
        <p:txBody>
          <a:bodyPr wrap="square" lIns="85090" tIns="68072" rIns="85090" bIns="68072" rtlCol="0" anchor="ctr">
            <a:spAutoFit/>
          </a:bodyPr>
          <a:lstStyle/>
          <a:p>
            <a:pPr algn="l" indent="0" marL="0">
              <a:lnSpc>
                <a:spcPct val="112000"/>
              </a:lnSpc>
              <a:buNone/>
            </a:pPr>
            <a:r>
              <a:rPr lang="en-US" sz="850" dirty="0">
                <a:solidFill>
                  <a:srgbClr val="CCD6F6"/>
                </a:solidFill>
                <a:latin typeface="Inter" pitchFamily="34" charset="0"/>
                <a:ea typeface="Inter" pitchFamily="34" charset="-122"/>
                <a:cs typeface="Inter" pitchFamily="34" charset="-120"/>
              </a:rPr>
              <a:t>Multiple Linear Regression, R², RMSE, MAE, business recommendations.</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293463"/>
          </a:xfrm>
          <a:prstGeom prst="rect">
            <a:avLst/>
          </a:prstGeom>
        </p:spPr>
      </p:pic>
      <p:sp>
        <p:nvSpPr>
          <p:cNvPr id="4" name="Text 0"/>
          <p:cNvSpPr/>
          <p:nvPr/>
        </p:nvSpPr>
        <p:spPr>
          <a:xfrm>
            <a:off x="428625" y="515466"/>
            <a:ext cx="8715375" cy="414338"/>
          </a:xfrm>
          <a:prstGeom prst="rect">
            <a:avLst/>
          </a:prstGeom>
          <a:noFill/>
          <a:ln/>
        </p:spPr>
        <p:txBody>
          <a:bodyPr wrap="square" lIns="0" tIns="0" rIns="0" bIns="0" rtlCol="0" anchor="t">
            <a:spAutoFit/>
          </a:bodyPr>
          <a:lstStyle/>
          <a:p>
            <a:pPr algn="l" indent="0" marL="0">
              <a:buNone/>
            </a:pPr>
            <a:r>
              <a:rPr lang="en-US" sz="2450" b="1" dirty="0">
                <a:solidFill>
                  <a:srgbClr val="64FFDA"/>
                </a:solidFill>
                <a:latin typeface="Inter Black" pitchFamily="34" charset="0"/>
                <a:ea typeface="Inter Black" pitchFamily="34" charset="-122"/>
                <a:cs typeface="Inter Black" pitchFamily="34" charset="-120"/>
              </a:rPr>
              <a:t>CO1: DATA PREPROCESSING</a:t>
            </a:r>
            <a:endParaRPr lang="en-US" sz="2450" dirty="0"/>
          </a:p>
        </p:txBody>
      </p:sp>
      <p:sp>
        <p:nvSpPr>
          <p:cNvPr id="5" name="Text 1"/>
          <p:cNvSpPr/>
          <p:nvPr/>
        </p:nvSpPr>
        <p:spPr>
          <a:xfrm>
            <a:off x="428625" y="1072093"/>
            <a:ext cx="8715375" cy="207169"/>
          </a:xfrm>
          <a:prstGeom prst="rect">
            <a:avLst/>
          </a:prstGeom>
          <a:noFill/>
          <a:ln/>
        </p:spPr>
        <p:txBody>
          <a:bodyPr wrap="square" lIns="0" tIns="0" rIns="0" bIns="0" rtlCol="0" anchor="t">
            <a:spAutoFit/>
          </a:bodyPr>
          <a:lstStyle/>
          <a:p>
            <a:pPr algn="l" indent="0" marL="0">
              <a:buNone/>
            </a:pPr>
            <a:r>
              <a:rPr lang="en-US" sz="1200" b="1" dirty="0">
                <a:solidFill>
                  <a:srgbClr val="8892B0"/>
                </a:solidFill>
                <a:latin typeface="Inter Bold" pitchFamily="34" charset="0"/>
                <a:ea typeface="Inter Bold" pitchFamily="34" charset="-122"/>
                <a:cs typeface="Inter Bold" pitchFamily="34" charset="-120"/>
              </a:rPr>
              <a:t>Data Integrity &amp; Quality Assessment</a:t>
            </a:r>
            <a:endParaRPr lang="en-US" sz="1200" dirty="0"/>
          </a:p>
        </p:txBody>
      </p:sp>
      <p:sp>
        <p:nvSpPr>
          <p:cNvPr id="6" name="Shape 2"/>
          <p:cNvSpPr/>
          <p:nvPr/>
        </p:nvSpPr>
        <p:spPr>
          <a:xfrm>
            <a:off x="428625" y="1564425"/>
            <a:ext cx="3000375" cy="934352"/>
          </a:xfrm>
          <a:prstGeom prst="rect">
            <a:avLst/>
          </a:prstGeom>
          <a:solidFill>
            <a:srgbClr val="112240"/>
          </a:solidFill>
          <a:ln w="9144">
            <a:solidFill>
              <a:srgbClr val="172A45"/>
            </a:solidFill>
            <a:prstDash val="solid"/>
          </a:ln>
        </p:spPr>
      </p:sp>
      <p:sp>
        <p:nvSpPr>
          <p:cNvPr id="7" name="Text 3"/>
          <p:cNvSpPr/>
          <p:nvPr/>
        </p:nvSpPr>
        <p:spPr>
          <a:xfrm>
            <a:off x="557213" y="1650150"/>
            <a:ext cx="2743200" cy="128588"/>
          </a:xfrm>
          <a:prstGeom prst="rect">
            <a:avLst/>
          </a:prstGeom>
          <a:noFill/>
          <a:ln/>
        </p:spPr>
        <p:txBody>
          <a:bodyPr wrap="square" lIns="0" tIns="0" rIns="0" bIns="0" rtlCol="0" anchor="t">
            <a:spAutoFit/>
          </a:bodyPr>
          <a:lstStyle/>
          <a:p>
            <a:pPr algn="l" indent="0" marL="0">
              <a:buNone/>
            </a:pPr>
            <a:r>
              <a:rPr lang="en-US" sz="750" b="1" dirty="0">
                <a:solidFill>
                  <a:srgbClr val="64FFDA"/>
                </a:solidFill>
                <a:latin typeface="Inter Bold" pitchFamily="34" charset="0"/>
                <a:ea typeface="Inter Bold" pitchFamily="34" charset="-122"/>
                <a:cs typeface="Inter Bold" pitchFamily="34" charset="-120"/>
              </a:rPr>
              <a:t>DATASET INTEGRITY</a:t>
            </a:r>
            <a:endParaRPr lang="en-US" sz="750" dirty="0"/>
          </a:p>
        </p:txBody>
      </p:sp>
      <p:sp>
        <p:nvSpPr>
          <p:cNvPr id="8" name="Text 4"/>
          <p:cNvSpPr/>
          <p:nvPr/>
        </p:nvSpPr>
        <p:spPr>
          <a:xfrm>
            <a:off x="557213" y="1878750"/>
            <a:ext cx="2743200" cy="420002"/>
          </a:xfrm>
          <a:prstGeom prst="rect">
            <a:avLst/>
          </a:prstGeom>
          <a:noFill/>
          <a:ln/>
        </p:spPr>
        <p:txBody>
          <a:bodyPr wrap="square" lIns="0" tIns="0" rIns="0" bIns="0" rtlCol="0" anchor="t">
            <a:spAutoFit/>
          </a:bodyPr>
          <a:lstStyle/>
          <a:p>
            <a:pPr algn="l" indent="0" marL="0">
              <a:lnSpc>
                <a:spcPct val="112000"/>
              </a:lnSpc>
              <a:buNone/>
            </a:pPr>
            <a:r>
              <a:rPr lang="en-US" sz="750" dirty="0">
                <a:solidFill>
                  <a:srgbClr val="CCD6F6"/>
                </a:solidFill>
                <a:latin typeface="Inter" pitchFamily="34" charset="0"/>
                <a:ea typeface="Inter" pitchFamily="34" charset="-122"/>
                <a:cs typeface="Inter" pitchFamily="34" charset="-120"/>
              </a:rPr>
              <a:t>- Records: </a:t>
            </a:r>
            <a:r>
              <a:rPr lang="en-US" sz="700" b="1" dirty="0">
                <a:solidFill>
                  <a:srgbClr val="64FFDA"/>
                </a:solidFill>
                <a:latin typeface="Inter Bold" pitchFamily="34" charset="0"/>
                <a:ea typeface="Inter Bold" pitchFamily="34" charset="-122"/>
                <a:cs typeface="Inter Bold" pitchFamily="34" charset="-120"/>
              </a:rPr>
              <a:t>1,338</a:t>
            </a:r>
            <a:r>
              <a:rPr lang="en-US" sz="750" dirty="0">
                <a:solidFill>
                  <a:srgbClr val="CCD6F6"/>
                </a:solidFill>
                <a:latin typeface="Inter" pitchFamily="34" charset="0"/>
                <a:ea typeface="Inter" pitchFamily="34" charset="-122"/>
                <a:cs typeface="Inter" pitchFamily="34" charset="-120"/>
              </a:rPr>
              <a:t> | Features: </a:t>
            </a:r>
            <a:r>
              <a:rPr lang="en-US" sz="700" b="1" dirty="0">
                <a:solidFill>
                  <a:srgbClr val="64FFDA"/>
                </a:solidFill>
                <a:latin typeface="Inter Bold" pitchFamily="34" charset="0"/>
                <a:ea typeface="Inter Bold" pitchFamily="34" charset="-122"/>
                <a:cs typeface="Inter Bold" pitchFamily="34" charset="-120"/>
              </a:rPr>
              <a:t>7</a:t>
            </a:r>
            <a:r>
              <a:rPr lang="en-US" sz="750" dirty="0">
                <a:solidFill>
                  <a:srgbClr val="CCD6F6"/>
                </a:solidFill>
                <a:latin typeface="Inter" pitchFamily="34" charset="0"/>
                <a:ea typeface="Inter" pitchFamily="34" charset="-122"/>
                <a:cs typeface="Inter" pitchFamily="34" charset="-120"/>
              </a:rPr>
              <a:t>
</a:t>
            </a:r>
            <a:r>
              <a:rPr lang="en-US" sz="750" dirty="0">
                <a:solidFill>
                  <a:srgbClr val="CCD6F6"/>
                </a:solidFill>
                <a:latin typeface="Inter" pitchFamily="34" charset="0"/>
                <a:ea typeface="Inter" pitchFamily="34" charset="-122"/>
                <a:cs typeface="Inter" pitchFamily="34" charset="-120"/>
              </a:rPr>
              <a:t>- Missing Values: </a:t>
            </a:r>
            <a:r>
              <a:rPr lang="en-US" sz="700" b="1" dirty="0">
                <a:solidFill>
                  <a:srgbClr val="64FFDA"/>
                </a:solidFill>
                <a:latin typeface="Inter Bold" pitchFamily="34" charset="0"/>
                <a:ea typeface="Inter Bold" pitchFamily="34" charset="-122"/>
                <a:cs typeface="Inter Bold" pitchFamily="34" charset="-120"/>
              </a:rPr>
              <a:t>0</a:t>
            </a:r>
            <a:r>
              <a:rPr lang="en-US" sz="750" dirty="0">
                <a:solidFill>
                  <a:srgbClr val="CCD6F6"/>
                </a:solidFill>
                <a:latin typeface="Inter" pitchFamily="34" charset="0"/>
                <a:ea typeface="Inter" pitchFamily="34" charset="-122"/>
                <a:cs typeface="Inter" pitchFamily="34" charset="-120"/>
              </a:rPr>
              <a:t> (Complete)</a:t>
            </a:r>
            <a:r>
              <a:rPr lang="en-US" sz="750" dirty="0">
                <a:solidFill>
                  <a:srgbClr val="CCD6F6"/>
                </a:solidFill>
                <a:latin typeface="Inter" pitchFamily="34" charset="0"/>
                <a:ea typeface="Inter" pitchFamily="34" charset="-122"/>
                <a:cs typeface="Inter" pitchFamily="34" charset="-120"/>
              </a:rPr>
              <a:t>
</a:t>
            </a:r>
            <a:r>
              <a:rPr lang="en-US" sz="750" dirty="0">
                <a:solidFill>
                  <a:srgbClr val="CCD6F6"/>
                </a:solidFill>
                <a:latin typeface="Inter" pitchFamily="34" charset="0"/>
                <a:ea typeface="Inter" pitchFamily="34" charset="-122"/>
                <a:cs typeface="Inter" pitchFamily="34" charset="-120"/>
              </a:rPr>
              <a:t>- Duplicates: </a:t>
            </a:r>
            <a:r>
              <a:rPr lang="en-US" sz="700" b="1" dirty="0">
                <a:solidFill>
                  <a:srgbClr val="64FFDA"/>
                </a:solidFill>
                <a:latin typeface="Inter Bold" pitchFamily="34" charset="0"/>
                <a:ea typeface="Inter Bold" pitchFamily="34" charset="-122"/>
                <a:cs typeface="Inter Bold" pitchFamily="34" charset="-120"/>
              </a:rPr>
              <a:t>1</a:t>
            </a:r>
            <a:r>
              <a:rPr lang="en-US" sz="750" dirty="0">
                <a:solidFill>
                  <a:srgbClr val="CCD6F6"/>
                </a:solidFill>
                <a:latin typeface="Inter" pitchFamily="34" charset="0"/>
                <a:ea typeface="Inter" pitchFamily="34" charset="-122"/>
                <a:cs typeface="Inter" pitchFamily="34" charset="-120"/>
              </a:rPr>
              <a:t> (Removed)</a:t>
            </a:r>
            <a:endParaRPr lang="en-US" sz="750" dirty="0"/>
          </a:p>
        </p:txBody>
      </p:sp>
      <p:sp>
        <p:nvSpPr>
          <p:cNvPr id="9" name="Shape 5"/>
          <p:cNvSpPr/>
          <p:nvPr/>
        </p:nvSpPr>
        <p:spPr>
          <a:xfrm>
            <a:off x="428625" y="2570215"/>
            <a:ext cx="3000375" cy="794352"/>
          </a:xfrm>
          <a:prstGeom prst="rect">
            <a:avLst/>
          </a:prstGeom>
          <a:solidFill>
            <a:srgbClr val="112240"/>
          </a:solidFill>
          <a:ln w="9144">
            <a:solidFill>
              <a:srgbClr val="172A45"/>
            </a:solidFill>
            <a:prstDash val="solid"/>
          </a:ln>
        </p:spPr>
      </p:sp>
      <p:sp>
        <p:nvSpPr>
          <p:cNvPr id="10" name="Text 6"/>
          <p:cNvSpPr/>
          <p:nvPr/>
        </p:nvSpPr>
        <p:spPr>
          <a:xfrm>
            <a:off x="557213" y="2655940"/>
            <a:ext cx="2743200" cy="128588"/>
          </a:xfrm>
          <a:prstGeom prst="rect">
            <a:avLst/>
          </a:prstGeom>
          <a:noFill/>
          <a:ln/>
        </p:spPr>
        <p:txBody>
          <a:bodyPr wrap="square" lIns="0" tIns="0" rIns="0" bIns="0" rtlCol="0" anchor="t">
            <a:spAutoFit/>
          </a:bodyPr>
          <a:lstStyle/>
          <a:p>
            <a:pPr algn="l" indent="0" marL="0">
              <a:buNone/>
            </a:pPr>
            <a:r>
              <a:rPr lang="en-US" sz="750" b="1" dirty="0">
                <a:solidFill>
                  <a:srgbClr val="64FFDA"/>
                </a:solidFill>
                <a:latin typeface="Inter Bold" pitchFamily="34" charset="0"/>
                <a:ea typeface="Inter Bold" pitchFamily="34" charset="-122"/>
                <a:cs typeface="Inter Bold" pitchFamily="34" charset="-120"/>
              </a:rPr>
              <a:t>DATA TYPES</a:t>
            </a:r>
            <a:endParaRPr lang="en-US" sz="750" dirty="0"/>
          </a:p>
        </p:txBody>
      </p:sp>
      <p:sp>
        <p:nvSpPr>
          <p:cNvPr id="11" name="Text 7"/>
          <p:cNvSpPr/>
          <p:nvPr/>
        </p:nvSpPr>
        <p:spPr>
          <a:xfrm>
            <a:off x="557213" y="2884540"/>
            <a:ext cx="2743200" cy="280002"/>
          </a:xfrm>
          <a:prstGeom prst="rect">
            <a:avLst/>
          </a:prstGeom>
          <a:noFill/>
          <a:ln/>
        </p:spPr>
        <p:txBody>
          <a:bodyPr wrap="square" lIns="0" tIns="0" rIns="0" bIns="0" rtlCol="0" anchor="t">
            <a:spAutoFit/>
          </a:bodyPr>
          <a:lstStyle/>
          <a:p>
            <a:pPr algn="l" indent="0" marL="0">
              <a:lnSpc>
                <a:spcPct val="112000"/>
              </a:lnSpc>
              <a:buNone/>
            </a:pPr>
            <a:r>
              <a:rPr lang="en-US" sz="750" dirty="0">
                <a:solidFill>
                  <a:srgbClr val="CCD6F6"/>
                </a:solidFill>
                <a:latin typeface="Inter" pitchFamily="34" charset="0"/>
                <a:ea typeface="Inter" pitchFamily="34" charset="-122"/>
                <a:cs typeface="Inter" pitchFamily="34" charset="-120"/>
              </a:rPr>
              <a:t>- Numerical: </a:t>
            </a:r>
            <a:r>
              <a:rPr lang="en-US" sz="700" b="1" dirty="0">
                <a:solidFill>
                  <a:srgbClr val="64FFDA"/>
                </a:solidFill>
                <a:latin typeface="Inter Bold" pitchFamily="34" charset="0"/>
                <a:ea typeface="Inter Bold" pitchFamily="34" charset="-122"/>
                <a:cs typeface="Inter Bold" pitchFamily="34" charset="-120"/>
              </a:rPr>
              <a:t>4</a:t>
            </a:r>
            <a:r>
              <a:rPr lang="en-US" sz="750" dirty="0">
                <a:solidFill>
                  <a:srgbClr val="CCD6F6"/>
                </a:solidFill>
                <a:latin typeface="Inter" pitchFamily="34" charset="0"/>
                <a:ea typeface="Inter" pitchFamily="34" charset="-122"/>
                <a:cs typeface="Inter" pitchFamily="34" charset="-120"/>
              </a:rPr>
              <a:t> (Age, BMI, Children, Charges)</a:t>
            </a:r>
            <a:r>
              <a:rPr lang="en-US" sz="750" dirty="0">
                <a:solidFill>
                  <a:srgbClr val="CCD6F6"/>
                </a:solidFill>
                <a:latin typeface="Inter" pitchFamily="34" charset="0"/>
                <a:ea typeface="Inter" pitchFamily="34" charset="-122"/>
                <a:cs typeface="Inter" pitchFamily="34" charset="-120"/>
              </a:rPr>
              <a:t>
</a:t>
            </a:r>
            <a:r>
              <a:rPr lang="en-US" sz="750" dirty="0">
                <a:solidFill>
                  <a:srgbClr val="CCD6F6"/>
                </a:solidFill>
                <a:latin typeface="Inter" pitchFamily="34" charset="0"/>
                <a:ea typeface="Inter" pitchFamily="34" charset="-122"/>
                <a:cs typeface="Inter" pitchFamily="34" charset="-120"/>
              </a:rPr>
              <a:t>- Categorical: </a:t>
            </a:r>
            <a:r>
              <a:rPr lang="en-US" sz="700" b="1" dirty="0">
                <a:solidFill>
                  <a:srgbClr val="64FFDA"/>
                </a:solidFill>
                <a:latin typeface="Inter Bold" pitchFamily="34" charset="0"/>
                <a:ea typeface="Inter Bold" pitchFamily="34" charset="-122"/>
                <a:cs typeface="Inter Bold" pitchFamily="34" charset="-120"/>
              </a:rPr>
              <a:t>3</a:t>
            </a:r>
            <a:r>
              <a:rPr lang="en-US" sz="750" dirty="0">
                <a:solidFill>
                  <a:srgbClr val="CCD6F6"/>
                </a:solidFill>
                <a:latin typeface="Inter" pitchFamily="34" charset="0"/>
                <a:ea typeface="Inter" pitchFamily="34" charset="-122"/>
                <a:cs typeface="Inter" pitchFamily="34" charset="-120"/>
              </a:rPr>
              <a:t> (Sex, Smoker, Region)</a:t>
            </a:r>
            <a:endParaRPr lang="en-US" sz="750" dirty="0"/>
          </a:p>
        </p:txBody>
      </p:sp>
      <p:sp>
        <p:nvSpPr>
          <p:cNvPr id="12" name="Shape 8"/>
          <p:cNvSpPr/>
          <p:nvPr/>
        </p:nvSpPr>
        <p:spPr>
          <a:xfrm>
            <a:off x="428625" y="3436004"/>
            <a:ext cx="3000375" cy="934352"/>
          </a:xfrm>
          <a:prstGeom prst="rect">
            <a:avLst/>
          </a:prstGeom>
          <a:solidFill>
            <a:srgbClr val="112240"/>
          </a:solidFill>
          <a:ln w="9144">
            <a:solidFill>
              <a:srgbClr val="64FFDA"/>
            </a:solidFill>
            <a:prstDash val="solid"/>
          </a:ln>
        </p:spPr>
      </p:sp>
      <p:sp>
        <p:nvSpPr>
          <p:cNvPr id="13" name="Text 9"/>
          <p:cNvSpPr/>
          <p:nvPr/>
        </p:nvSpPr>
        <p:spPr>
          <a:xfrm>
            <a:off x="557213" y="3521729"/>
            <a:ext cx="2743200" cy="128588"/>
          </a:xfrm>
          <a:prstGeom prst="rect">
            <a:avLst/>
          </a:prstGeom>
          <a:noFill/>
          <a:ln/>
        </p:spPr>
        <p:txBody>
          <a:bodyPr wrap="square" lIns="0" tIns="0" rIns="0" bIns="0" rtlCol="0" anchor="t">
            <a:spAutoFit/>
          </a:bodyPr>
          <a:lstStyle/>
          <a:p>
            <a:pPr algn="l" indent="0" marL="0">
              <a:buNone/>
            </a:pPr>
            <a:r>
              <a:rPr lang="en-US" sz="750" b="1" dirty="0">
                <a:solidFill>
                  <a:srgbClr val="64FFDA"/>
                </a:solidFill>
                <a:latin typeface="Inter Bold" pitchFamily="34" charset="0"/>
                <a:ea typeface="Inter Bold" pitchFamily="34" charset="-122"/>
                <a:cs typeface="Inter Bold" pitchFamily="34" charset="-120"/>
              </a:rPr>
              <a:t>OUTLIER SUMMARY (IQR)</a:t>
            </a:r>
            <a:endParaRPr lang="en-US" sz="750" dirty="0"/>
          </a:p>
        </p:txBody>
      </p:sp>
      <p:sp>
        <p:nvSpPr>
          <p:cNvPr id="14" name="Text 10"/>
          <p:cNvSpPr/>
          <p:nvPr/>
        </p:nvSpPr>
        <p:spPr>
          <a:xfrm>
            <a:off x="557213" y="3750329"/>
            <a:ext cx="2743200" cy="420002"/>
          </a:xfrm>
          <a:prstGeom prst="rect">
            <a:avLst/>
          </a:prstGeom>
          <a:noFill/>
          <a:ln/>
        </p:spPr>
        <p:txBody>
          <a:bodyPr wrap="square" lIns="0" tIns="0" rIns="0" bIns="0" rtlCol="0" anchor="t">
            <a:spAutoFit/>
          </a:bodyPr>
          <a:lstStyle/>
          <a:p>
            <a:pPr algn="l" indent="0" marL="0">
              <a:lnSpc>
                <a:spcPct val="112000"/>
              </a:lnSpc>
              <a:buNone/>
            </a:pPr>
            <a:r>
              <a:rPr lang="en-US" sz="750" dirty="0">
                <a:solidFill>
                  <a:srgbClr val="CCD6F6"/>
                </a:solidFill>
                <a:latin typeface="Inter" pitchFamily="34" charset="0"/>
                <a:ea typeface="Inter" pitchFamily="34" charset="-122"/>
                <a:cs typeface="Inter" pitchFamily="34" charset="-120"/>
              </a:rPr>
              <a:t>- BMI: 9 Outliers</a:t>
            </a:r>
            <a:r>
              <a:rPr lang="en-US" sz="750" dirty="0">
                <a:solidFill>
                  <a:srgbClr val="CCD6F6"/>
                </a:solidFill>
                <a:latin typeface="Inter" pitchFamily="34" charset="0"/>
                <a:ea typeface="Inter" pitchFamily="34" charset="-122"/>
                <a:cs typeface="Inter" pitchFamily="34" charset="-120"/>
              </a:rPr>
              <a:t>
</a:t>
            </a:r>
            <a:r>
              <a:rPr lang="en-US" sz="750" dirty="0">
                <a:solidFill>
                  <a:srgbClr val="CCD6F6"/>
                </a:solidFill>
                <a:latin typeface="Inter" pitchFamily="34" charset="0"/>
                <a:ea typeface="Inter" pitchFamily="34" charset="-122"/>
                <a:cs typeface="Inter" pitchFamily="34" charset="-120"/>
              </a:rPr>
              <a:t>- </a:t>
            </a:r>
            <a:r>
              <a:rPr lang="en-US" sz="700" b="1" dirty="0">
                <a:solidFill>
                  <a:srgbClr val="64FFDA"/>
                </a:solidFill>
                <a:latin typeface="Inter Bold" pitchFamily="34" charset="0"/>
                <a:ea typeface="Inter Bold" pitchFamily="34" charset="-122"/>
                <a:cs typeface="Inter Bold" pitchFamily="34" charset="-120"/>
              </a:rPr>
              <a:t>Charges: 139 Outliers</a:t>
            </a:r>
            <a:r>
              <a:rPr lang="en-US" sz="750" dirty="0">
                <a:solidFill>
                  <a:srgbClr val="CCD6F6"/>
                </a:solidFill>
                <a:latin typeface="Inter" pitchFamily="34" charset="0"/>
                <a:ea typeface="Inter" pitchFamily="34" charset="-122"/>
                <a:cs typeface="Inter" pitchFamily="34" charset="-120"/>
              </a:rPr>
              <a:t>
</a:t>
            </a:r>
            <a:r>
              <a:rPr lang="en-US" sz="750" dirty="0">
                <a:solidFill>
                  <a:srgbClr val="CCD6F6"/>
                </a:solidFill>
                <a:latin typeface="Inter" pitchFamily="34" charset="0"/>
                <a:ea typeface="Inter" pitchFamily="34" charset="-122"/>
                <a:cs typeface="Inter" pitchFamily="34" charset="-120"/>
              </a:rPr>
              <a:t>- Age/Children: 0 Outliers</a:t>
            </a:r>
            <a:endParaRPr lang="en-US" sz="750" dirty="0"/>
          </a:p>
        </p:txBody>
      </p:sp>
      <p:sp>
        <p:nvSpPr>
          <p:cNvPr id="15" name="Shape 11"/>
          <p:cNvSpPr/>
          <p:nvPr/>
        </p:nvSpPr>
        <p:spPr>
          <a:xfrm>
            <a:off x="3714750" y="1564425"/>
            <a:ext cx="5000625" cy="1785938"/>
          </a:xfrm>
          <a:prstGeom prst="rect">
            <a:avLst/>
          </a:prstGeom>
          <a:solidFill>
            <a:srgbClr val="011627"/>
          </a:solidFill>
          <a:ln/>
        </p:spPr>
      </p:sp>
      <p:sp>
        <p:nvSpPr>
          <p:cNvPr id="16" name="Shape 12"/>
          <p:cNvSpPr/>
          <p:nvPr/>
        </p:nvSpPr>
        <p:spPr>
          <a:xfrm>
            <a:off x="3714750" y="1564425"/>
            <a:ext cx="5000625" cy="178594"/>
          </a:xfrm>
          <a:prstGeom prst="rect">
            <a:avLst/>
          </a:prstGeom>
          <a:solidFill>
            <a:srgbClr val="172A45"/>
          </a:solidFill>
          <a:ln/>
        </p:spPr>
      </p:sp>
      <p:sp>
        <p:nvSpPr>
          <p:cNvPr id="17" name="Shape 13"/>
          <p:cNvSpPr/>
          <p:nvPr/>
        </p:nvSpPr>
        <p:spPr>
          <a:xfrm>
            <a:off x="8708231" y="1564425"/>
            <a:ext cx="7144" cy="1785938"/>
          </a:xfrm>
          <a:prstGeom prst="rect">
            <a:avLst/>
          </a:prstGeom>
          <a:solidFill>
            <a:srgbClr val="172A45"/>
          </a:solidFill>
          <a:ln/>
        </p:spPr>
      </p:sp>
      <p:sp>
        <p:nvSpPr>
          <p:cNvPr id="18" name="Shape 14"/>
          <p:cNvSpPr/>
          <p:nvPr/>
        </p:nvSpPr>
        <p:spPr>
          <a:xfrm>
            <a:off x="3714750" y="3343219"/>
            <a:ext cx="5000625" cy="7144"/>
          </a:xfrm>
          <a:prstGeom prst="rect">
            <a:avLst/>
          </a:prstGeom>
          <a:solidFill>
            <a:srgbClr val="172A45"/>
          </a:solidFill>
          <a:ln/>
        </p:spPr>
      </p:sp>
      <p:sp>
        <p:nvSpPr>
          <p:cNvPr id="19" name="Shape 15"/>
          <p:cNvSpPr/>
          <p:nvPr/>
        </p:nvSpPr>
        <p:spPr>
          <a:xfrm>
            <a:off x="3714750" y="1564425"/>
            <a:ext cx="7144" cy="1785938"/>
          </a:xfrm>
          <a:prstGeom prst="rect">
            <a:avLst/>
          </a:prstGeom>
          <a:solidFill>
            <a:srgbClr val="172A45"/>
          </a:solidFill>
          <a:ln/>
        </p:spPr>
      </p:sp>
      <p:sp>
        <p:nvSpPr>
          <p:cNvPr id="20" name="Text 16"/>
          <p:cNvSpPr/>
          <p:nvPr/>
        </p:nvSpPr>
        <p:spPr>
          <a:xfrm>
            <a:off x="3786188" y="1421550"/>
            <a:ext cx="214313" cy="100013"/>
          </a:xfrm>
          <a:prstGeom prst="rect">
            <a:avLst/>
          </a:prstGeom>
          <a:noFill/>
          <a:ln/>
        </p:spPr>
        <p:txBody>
          <a:bodyPr wrap="none" lIns="0" tIns="0" rIns="0" bIns="0" rtlCol="0" anchor="t">
            <a:spAutoFit/>
          </a:bodyPr>
          <a:lstStyle/>
          <a:p>
            <a:pPr algn="l" indent="0" marL="0">
              <a:buNone/>
            </a:pPr>
            <a:r>
              <a:rPr lang="en-US" sz="500" dirty="0">
                <a:solidFill>
                  <a:srgbClr val="8892B0"/>
                </a:solidFill>
                <a:latin typeface="Fira Code" pitchFamily="34" charset="0"/>
                <a:ea typeface="Fira Code" pitchFamily="34" charset="-122"/>
                <a:cs typeface="Fira Code" pitchFamily="34" charset="-120"/>
              </a:rPr>
              <a:t>● ● ●</a:t>
            </a:r>
            <a:endParaRPr lang="en-US" sz="500" dirty="0"/>
          </a:p>
        </p:txBody>
      </p:sp>
      <p:sp>
        <p:nvSpPr>
          <p:cNvPr id="21" name="Text 17"/>
          <p:cNvSpPr/>
          <p:nvPr/>
        </p:nvSpPr>
        <p:spPr>
          <a:xfrm>
            <a:off x="3800475" y="1650150"/>
            <a:ext cx="4829175" cy="1131447"/>
          </a:xfrm>
          <a:prstGeom prst="rect">
            <a:avLst/>
          </a:prstGeom>
          <a:noFill/>
          <a:ln/>
        </p:spPr>
        <p:txBody>
          <a:bodyPr wrap="square" lIns="0" tIns="0" rIns="0" bIns="0" rtlCol="0" anchor="t">
            <a:spAutoFit/>
          </a:bodyPr>
          <a:lstStyle/>
          <a:p>
            <a:pPr algn="l" indent="0" marL="0">
              <a:lnSpc>
                <a:spcPct val="96000"/>
              </a:lnSpc>
              <a:buNone/>
            </a:pPr>
            <a:r>
              <a:rPr lang="en-US" sz="600" dirty="0">
                <a:solidFill>
                  <a:srgbClr val="64FFDA"/>
                </a:solidFill>
                <a:latin typeface="Fira Code" pitchFamily="34" charset="0"/>
                <a:ea typeface="Fira Code" pitchFamily="34" charset="-122"/>
                <a:cs typeface="Fira Code" pitchFamily="34" charset="-120"/>
              </a:rPr>
              <a:t># Outlier Detection Log</a:t>
            </a:r>
            <a:r>
              <a:rPr lang="en-US" sz="600" dirty="0">
                <a:solidFill>
                  <a:srgbClr val="D6DEEB"/>
                </a:solidFill>
                <a:latin typeface="Fira Code" pitchFamily="34" charset="0"/>
                <a:ea typeface="Fira Code" pitchFamily="34" charset="-122"/>
                <a:cs typeface="Fira Code" pitchFamily="34" charset="-120"/>
              </a:rPr>
              <a:t>
</a:t>
            </a:r>
            <a:r>
              <a:rPr lang="en-US" sz="600" dirty="0">
                <a:solidFill>
                  <a:srgbClr val="D6DEEB"/>
                </a:solidFill>
                <a:latin typeface="Fira Code" pitchFamily="34" charset="0"/>
                <a:ea typeface="Fira Code" pitchFamily="34" charset="-122"/>
                <a:cs typeface="Fira Code" pitchFamily="34" charset="-120"/>
              </a:rPr>
              <a:t>for col in ['age', 'bmi', 'children', 'charges']:
</a:t>
            </a:r>
            <a:r>
              <a:rPr lang="en-US" sz="600" dirty="0">
                <a:solidFill>
                  <a:srgbClr val="D6DEEB"/>
                </a:solidFill>
                <a:latin typeface="Fira Code" pitchFamily="34" charset="0"/>
                <a:ea typeface="Fira Code" pitchFamily="34" charset="-122"/>
                <a:cs typeface="Fira Code" pitchFamily="34" charset="-120"/>
              </a:rPr>
              <a:t>    Q1, Q3 = df[col].quantile([0.25, 0.75])
</a:t>
            </a:r>
            <a:r>
              <a:rPr lang="en-US" sz="600" dirty="0">
                <a:solidFill>
                  <a:srgbClr val="D6DEEB"/>
                </a:solidFill>
                <a:latin typeface="Fira Code" pitchFamily="34" charset="0"/>
                <a:ea typeface="Fira Code" pitchFamily="34" charset="-122"/>
                <a:cs typeface="Fira Code" pitchFamily="34" charset="-120"/>
              </a:rPr>
              <a:t>    IQR = Q3 - Q1
</a:t>
            </a:r>
            <a:r>
              <a:rPr lang="en-US" sz="600" dirty="0">
                <a:solidFill>
                  <a:srgbClr val="D6DEEB"/>
                </a:solidFill>
                <a:latin typeface="Fira Code" pitchFamily="34" charset="0"/>
                <a:ea typeface="Fira Code" pitchFamily="34" charset="-122"/>
                <a:cs typeface="Fira Code" pitchFamily="34" charset="-120"/>
              </a:rPr>
              <a:t>    outliers = df[(df[col] &lt; Q1-1.5*IQR) | (df[col] &gt; Q3+1.5*IQR)]
</a:t>
            </a:r>
            <a:r>
              <a:rPr lang="en-US" sz="600" dirty="0">
                <a:solidFill>
                  <a:srgbClr val="D6DEEB"/>
                </a:solidFill>
                <a:latin typeface="Fira Code" pitchFamily="34" charset="0"/>
                <a:ea typeface="Fira Code" pitchFamily="34" charset="-122"/>
                <a:cs typeface="Fira Code" pitchFamily="34" charset="-120"/>
              </a:rPr>
              <a:t>    print(f"{col}: {len(outliers)} outliers")
</a:t>
            </a:r>
            <a:r>
              <a:rPr lang="en-US" sz="600" dirty="0">
                <a:solidFill>
                  <a:srgbClr val="D6DEEB"/>
                </a:solidFill>
                <a:latin typeface="Fira Code" pitchFamily="34" charset="0"/>
                <a:ea typeface="Fira Code" pitchFamily="34" charset="-122"/>
                <a:cs typeface="Fira Code" pitchFamily="34" charset="-120"/>
              </a:rPr>
              <a:t>
</a:t>
            </a:r>
            <a:r>
              <a:rPr lang="en-US" sz="600" dirty="0">
                <a:solidFill>
                  <a:srgbClr val="64FFDA"/>
                </a:solidFill>
                <a:latin typeface="Fira Code" pitchFamily="34" charset="0"/>
                <a:ea typeface="Fira Code" pitchFamily="34" charset="-122"/>
                <a:cs typeface="Fira Code" pitchFamily="34" charset="-120"/>
              </a:rPr>
              <a:t>Output:</a:t>
            </a:r>
            <a:r>
              <a:rPr lang="en-US" sz="600" dirty="0">
                <a:solidFill>
                  <a:srgbClr val="D6DEEB"/>
                </a:solidFill>
                <a:latin typeface="Fira Code" pitchFamily="34" charset="0"/>
                <a:ea typeface="Fira Code" pitchFamily="34" charset="-122"/>
                <a:cs typeface="Fira Code" pitchFamily="34" charset="-120"/>
              </a:rPr>
              <a:t>
</a:t>
            </a:r>
            <a:r>
              <a:rPr lang="en-US" sz="600" dirty="0">
                <a:solidFill>
                  <a:srgbClr val="D6DEEB"/>
                </a:solidFill>
                <a:latin typeface="Fira Code" pitchFamily="34" charset="0"/>
                <a:ea typeface="Fira Code" pitchFamily="34" charset="-122"/>
                <a:cs typeface="Fira Code" pitchFamily="34" charset="-120"/>
              </a:rPr>
              <a:t>age: 0 | bmi: 9 | children: 0 | </a:t>
            </a:r>
            <a:r>
              <a:rPr lang="en-US" sz="600" dirty="0">
                <a:solidFill>
                  <a:srgbClr val="64FFDA"/>
                </a:solidFill>
                <a:latin typeface="Fira Code" pitchFamily="34" charset="0"/>
                <a:ea typeface="Fira Code" pitchFamily="34" charset="-122"/>
                <a:cs typeface="Fira Code" pitchFamily="34" charset="-120"/>
              </a:rPr>
              <a:t>charges: 139</a:t>
            </a:r>
            <a:endParaRPr lang="en-US" sz="600" dirty="0"/>
          </a:p>
        </p:txBody>
      </p:sp>
      <p:sp>
        <p:nvSpPr>
          <p:cNvPr id="22" name="Shape 18"/>
          <p:cNvSpPr/>
          <p:nvPr/>
        </p:nvSpPr>
        <p:spPr>
          <a:xfrm>
            <a:off x="3714750" y="3307500"/>
            <a:ext cx="5000625" cy="1800225"/>
          </a:xfrm>
          <a:prstGeom prst="rect">
            <a:avLst/>
          </a:prstGeom>
          <a:solidFill>
            <a:srgbClr val="112240"/>
          </a:solidFill>
          <a:ln w="9144">
            <a:solidFill>
              <a:srgbClr val="172A45"/>
            </a:solidFill>
            <a:prstDash val="solid"/>
          </a:ln>
        </p:spPr>
      </p:sp>
      <p:pic>
        <p:nvPicPr>
          <p:cNvPr id="23" name="Image 1" descr="preencoded.png">    </p:cNvPr>
          <p:cNvPicPr>
            <a:picLocks noChangeAspect="1"/>
          </p:cNvPicPr>
          <p:nvPr/>
        </p:nvPicPr>
        <p:blipFill>
          <a:blip r:embed="rId2"/>
          <a:stretch>
            <a:fillRect/>
          </a:stretch>
        </p:blipFill>
        <p:spPr>
          <a:xfrm>
            <a:off x="3821906" y="3414657"/>
            <a:ext cx="4772025" cy="157162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293463"/>
          </a:xfrm>
          <a:prstGeom prst="rect">
            <a:avLst/>
          </a:prstGeom>
        </p:spPr>
      </p:pic>
      <p:sp>
        <p:nvSpPr>
          <p:cNvPr id="4" name="Text 0"/>
          <p:cNvSpPr/>
          <p:nvPr/>
        </p:nvSpPr>
        <p:spPr>
          <a:xfrm>
            <a:off x="428625" y="515466"/>
            <a:ext cx="8715375" cy="414338"/>
          </a:xfrm>
          <a:prstGeom prst="rect">
            <a:avLst/>
          </a:prstGeom>
          <a:noFill/>
          <a:ln/>
        </p:spPr>
        <p:txBody>
          <a:bodyPr wrap="square" lIns="0" tIns="0" rIns="0" bIns="0" rtlCol="0" anchor="t">
            <a:spAutoFit/>
          </a:bodyPr>
          <a:lstStyle/>
          <a:p>
            <a:pPr algn="l" indent="0" marL="0">
              <a:buNone/>
            </a:pPr>
            <a:r>
              <a:rPr lang="en-US" sz="2450" b="1" dirty="0">
                <a:solidFill>
                  <a:srgbClr val="64FFDA"/>
                </a:solidFill>
                <a:latin typeface="Inter Black" pitchFamily="34" charset="0"/>
                <a:ea typeface="Inter Black" pitchFamily="34" charset="-122"/>
                <a:cs typeface="Inter Black" pitchFamily="34" charset="-120"/>
              </a:rPr>
              <a:t>CO2: DESCRIPTIVE STATISTICS</a:t>
            </a:r>
            <a:endParaRPr lang="en-US" sz="2450" dirty="0"/>
          </a:p>
        </p:txBody>
      </p:sp>
      <p:sp>
        <p:nvSpPr>
          <p:cNvPr id="5" name="Text 1"/>
          <p:cNvSpPr/>
          <p:nvPr/>
        </p:nvSpPr>
        <p:spPr>
          <a:xfrm>
            <a:off x="428625" y="1072093"/>
            <a:ext cx="8715375" cy="207169"/>
          </a:xfrm>
          <a:prstGeom prst="rect">
            <a:avLst/>
          </a:prstGeom>
          <a:noFill/>
          <a:ln/>
        </p:spPr>
        <p:txBody>
          <a:bodyPr wrap="square" lIns="0" tIns="0" rIns="0" bIns="0" rtlCol="0" anchor="t">
            <a:spAutoFit/>
          </a:bodyPr>
          <a:lstStyle/>
          <a:p>
            <a:pPr algn="l" indent="0" marL="0">
              <a:buNone/>
            </a:pPr>
            <a:r>
              <a:rPr lang="en-US" sz="1200" b="1" dirty="0">
                <a:solidFill>
                  <a:srgbClr val="8892B0"/>
                </a:solidFill>
                <a:latin typeface="Inter Bold" pitchFamily="34" charset="0"/>
                <a:ea typeface="Inter Bold" pitchFamily="34" charset="-122"/>
                <a:cs typeface="Inter Bold" pitchFamily="34" charset="-120"/>
              </a:rPr>
              <a:t>Statistical Profile of Medical Charges</a:t>
            </a:r>
            <a:endParaRPr lang="en-US" sz="1200" dirty="0"/>
          </a:p>
        </p:txBody>
      </p:sp>
      <p:sp>
        <p:nvSpPr>
          <p:cNvPr id="6" name="Shape 2"/>
          <p:cNvSpPr/>
          <p:nvPr/>
        </p:nvSpPr>
        <p:spPr>
          <a:xfrm>
            <a:off x="428625" y="1564425"/>
            <a:ext cx="3669264" cy="3729038"/>
          </a:xfrm>
          <a:prstGeom prst="rect">
            <a:avLst/>
          </a:prstGeom>
          <a:solidFill>
            <a:srgbClr val="112240"/>
          </a:solidFill>
          <a:ln w="9144">
            <a:solidFill>
              <a:srgbClr val="172A45"/>
            </a:solidFill>
            <a:prstDash val="solid"/>
          </a:ln>
        </p:spPr>
      </p:sp>
      <p:sp>
        <p:nvSpPr>
          <p:cNvPr id="7" name="Text 3"/>
          <p:cNvSpPr/>
          <p:nvPr/>
        </p:nvSpPr>
        <p:spPr>
          <a:xfrm>
            <a:off x="571500" y="1707300"/>
            <a:ext cx="3383514" cy="208955"/>
          </a:xfrm>
          <a:prstGeom prst="rect">
            <a:avLst/>
          </a:prstGeom>
          <a:noFill/>
          <a:ln/>
        </p:spPr>
        <p:txBody>
          <a:bodyPr wrap="square" lIns="0" tIns="0" rIns="0" bIns="68072"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CORE METRICS</a:t>
            </a:r>
            <a:endParaRPr lang="en-US" sz="800" dirty="0"/>
          </a:p>
        </p:txBody>
      </p:sp>
      <p:sp>
        <p:nvSpPr>
          <p:cNvPr id="8" name="Text 4"/>
          <p:cNvSpPr/>
          <p:nvPr/>
        </p:nvSpPr>
        <p:spPr>
          <a:xfrm>
            <a:off x="571500" y="2023411"/>
            <a:ext cx="283964" cy="14644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Mean</a:t>
            </a:r>
            <a:endParaRPr lang="en-US" sz="800" dirty="0"/>
          </a:p>
        </p:txBody>
      </p:sp>
      <p:sp>
        <p:nvSpPr>
          <p:cNvPr id="9" name="Text 5"/>
          <p:cNvSpPr/>
          <p:nvPr/>
        </p:nvSpPr>
        <p:spPr>
          <a:xfrm>
            <a:off x="3324578" y="2023411"/>
            <a:ext cx="630436" cy="146447"/>
          </a:xfrm>
          <a:prstGeom prst="rect">
            <a:avLst/>
          </a:prstGeom>
          <a:noFill/>
          <a:ln/>
        </p:spPr>
        <p:txBody>
          <a:bodyPr wrap="none" lIns="0" tIns="0" rIns="0" bIns="0" rtlCol="0" anchor="t">
            <a:spAutoFit/>
          </a:bodyPr>
          <a:lstStyle/>
          <a:p>
            <a:pPr algn="l" indent="0" marL="0">
              <a:buNone/>
            </a:pPr>
            <a:r>
              <a:rPr lang="en-US" sz="850" b="1" dirty="0">
                <a:solidFill>
                  <a:srgbClr val="CCD6F6"/>
                </a:solidFill>
                <a:latin typeface="Inter Bold" pitchFamily="34" charset="0"/>
                <a:ea typeface="Inter Bold" pitchFamily="34" charset="-122"/>
                <a:cs typeface="Inter Bold" pitchFamily="34" charset="-120"/>
              </a:rPr>
              <a:t>$13,279.12</a:t>
            </a:r>
            <a:endParaRPr lang="en-US" sz="850" dirty="0"/>
          </a:p>
        </p:txBody>
      </p:sp>
      <p:sp>
        <p:nvSpPr>
          <p:cNvPr id="10" name="Text 6"/>
          <p:cNvSpPr/>
          <p:nvPr/>
        </p:nvSpPr>
        <p:spPr>
          <a:xfrm>
            <a:off x="571500" y="2291302"/>
            <a:ext cx="375047" cy="14644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Median</a:t>
            </a:r>
            <a:endParaRPr lang="en-US" sz="800" dirty="0"/>
          </a:p>
        </p:txBody>
      </p:sp>
      <p:sp>
        <p:nvSpPr>
          <p:cNvPr id="11" name="Text 7"/>
          <p:cNvSpPr/>
          <p:nvPr/>
        </p:nvSpPr>
        <p:spPr>
          <a:xfrm>
            <a:off x="3369227" y="2291302"/>
            <a:ext cx="585788" cy="146447"/>
          </a:xfrm>
          <a:prstGeom prst="rect">
            <a:avLst/>
          </a:prstGeom>
          <a:noFill/>
          <a:ln/>
        </p:spPr>
        <p:txBody>
          <a:bodyPr wrap="none" lIns="0" tIns="0" rIns="0" bIns="0" rtlCol="0" anchor="t">
            <a:spAutoFit/>
          </a:bodyPr>
          <a:lstStyle/>
          <a:p>
            <a:pPr algn="l" indent="0" marL="0">
              <a:buNone/>
            </a:pPr>
            <a:r>
              <a:rPr lang="en-US" sz="850" b="1" dirty="0">
                <a:solidFill>
                  <a:srgbClr val="CCD6F6"/>
                </a:solidFill>
                <a:latin typeface="Inter Bold" pitchFamily="34" charset="0"/>
                <a:ea typeface="Inter Bold" pitchFamily="34" charset="-122"/>
                <a:cs typeface="Inter Bold" pitchFamily="34" charset="-120"/>
              </a:rPr>
              <a:t>$9,386.16</a:t>
            </a:r>
            <a:endParaRPr lang="en-US" sz="850" dirty="0"/>
          </a:p>
        </p:txBody>
      </p:sp>
      <p:sp>
        <p:nvSpPr>
          <p:cNvPr id="12" name="Text 8"/>
          <p:cNvSpPr/>
          <p:nvPr/>
        </p:nvSpPr>
        <p:spPr>
          <a:xfrm>
            <a:off x="571500" y="2559193"/>
            <a:ext cx="444698" cy="14644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Variance</a:t>
            </a:r>
            <a:endParaRPr lang="en-US" sz="800" dirty="0"/>
          </a:p>
        </p:txBody>
      </p:sp>
      <p:sp>
        <p:nvSpPr>
          <p:cNvPr id="13" name="Text 9"/>
          <p:cNvSpPr/>
          <p:nvPr/>
        </p:nvSpPr>
        <p:spPr>
          <a:xfrm>
            <a:off x="3001324" y="2559193"/>
            <a:ext cx="953691" cy="146447"/>
          </a:xfrm>
          <a:prstGeom prst="rect">
            <a:avLst/>
          </a:prstGeom>
          <a:noFill/>
          <a:ln/>
        </p:spPr>
        <p:txBody>
          <a:bodyPr wrap="none" lIns="0" tIns="0" rIns="0" bIns="0" rtlCol="0" anchor="t">
            <a:spAutoFit/>
          </a:bodyPr>
          <a:lstStyle/>
          <a:p>
            <a:pPr algn="l" indent="0" marL="0">
              <a:buNone/>
            </a:pPr>
            <a:r>
              <a:rPr lang="en-US" sz="850" b="1" dirty="0">
                <a:solidFill>
                  <a:srgbClr val="CCD6F6"/>
                </a:solidFill>
                <a:latin typeface="Inter Bold" pitchFamily="34" charset="0"/>
                <a:ea typeface="Inter Bold" pitchFamily="34" charset="-122"/>
                <a:cs typeface="Inter Bold" pitchFamily="34" charset="-120"/>
              </a:rPr>
              <a:t>$146,660,811.01</a:t>
            </a:r>
            <a:endParaRPr lang="en-US" sz="850" dirty="0"/>
          </a:p>
        </p:txBody>
      </p:sp>
      <p:sp>
        <p:nvSpPr>
          <p:cNvPr id="14" name="Text 10"/>
          <p:cNvSpPr/>
          <p:nvPr/>
        </p:nvSpPr>
        <p:spPr>
          <a:xfrm>
            <a:off x="571500" y="2827083"/>
            <a:ext cx="398264" cy="14644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Std Dev</a:t>
            </a:r>
            <a:endParaRPr lang="en-US" sz="800" dirty="0"/>
          </a:p>
        </p:txBody>
      </p:sp>
      <p:sp>
        <p:nvSpPr>
          <p:cNvPr id="15" name="Text 11"/>
          <p:cNvSpPr/>
          <p:nvPr/>
        </p:nvSpPr>
        <p:spPr>
          <a:xfrm>
            <a:off x="3338866" y="2827083"/>
            <a:ext cx="616148" cy="146447"/>
          </a:xfrm>
          <a:prstGeom prst="rect">
            <a:avLst/>
          </a:prstGeom>
          <a:noFill/>
          <a:ln/>
        </p:spPr>
        <p:txBody>
          <a:bodyPr wrap="none" lIns="0" tIns="0" rIns="0" bIns="0" rtlCol="0" anchor="t">
            <a:spAutoFit/>
          </a:bodyPr>
          <a:lstStyle/>
          <a:p>
            <a:pPr algn="l" indent="0" marL="0">
              <a:buNone/>
            </a:pPr>
            <a:r>
              <a:rPr lang="en-US" sz="850" b="1" dirty="0">
                <a:solidFill>
                  <a:srgbClr val="CCD6F6"/>
                </a:solidFill>
                <a:latin typeface="Inter Bold" pitchFamily="34" charset="0"/>
                <a:ea typeface="Inter Bold" pitchFamily="34" charset="-122"/>
                <a:cs typeface="Inter Bold" pitchFamily="34" charset="-120"/>
              </a:rPr>
              <a:t>$12,110.36</a:t>
            </a:r>
            <a:endParaRPr lang="en-US" sz="850" dirty="0"/>
          </a:p>
        </p:txBody>
      </p:sp>
      <p:sp>
        <p:nvSpPr>
          <p:cNvPr id="16" name="Text 12"/>
          <p:cNvSpPr/>
          <p:nvPr/>
        </p:nvSpPr>
        <p:spPr>
          <a:xfrm>
            <a:off x="571500" y="3094974"/>
            <a:ext cx="321469" cy="14644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Range</a:t>
            </a:r>
            <a:endParaRPr lang="en-US" sz="800" dirty="0"/>
          </a:p>
        </p:txBody>
      </p:sp>
      <p:sp>
        <p:nvSpPr>
          <p:cNvPr id="17" name="Text 13"/>
          <p:cNvSpPr/>
          <p:nvPr/>
        </p:nvSpPr>
        <p:spPr>
          <a:xfrm>
            <a:off x="3253141" y="3094974"/>
            <a:ext cx="701873" cy="146447"/>
          </a:xfrm>
          <a:prstGeom prst="rect">
            <a:avLst/>
          </a:prstGeom>
          <a:noFill/>
          <a:ln/>
        </p:spPr>
        <p:txBody>
          <a:bodyPr wrap="none" lIns="0" tIns="0" rIns="0" bIns="0" rtlCol="0" anchor="t">
            <a:spAutoFit/>
          </a:bodyPr>
          <a:lstStyle/>
          <a:p>
            <a:pPr algn="l" indent="0" marL="0">
              <a:buNone/>
            </a:pPr>
            <a:r>
              <a:rPr lang="en-US" sz="850" b="1" dirty="0">
                <a:solidFill>
                  <a:srgbClr val="CCD6F6"/>
                </a:solidFill>
                <a:latin typeface="Inter Bold" pitchFamily="34" charset="0"/>
                <a:ea typeface="Inter Bold" pitchFamily="34" charset="-122"/>
                <a:cs typeface="Inter Bold" pitchFamily="34" charset="-120"/>
              </a:rPr>
              <a:t>$62,648.55</a:t>
            </a:r>
            <a:endParaRPr lang="en-US" sz="850" dirty="0"/>
          </a:p>
        </p:txBody>
      </p:sp>
      <p:sp>
        <p:nvSpPr>
          <p:cNvPr id="18" name="Text 14"/>
          <p:cNvSpPr/>
          <p:nvPr/>
        </p:nvSpPr>
        <p:spPr>
          <a:xfrm>
            <a:off x="571500" y="3362865"/>
            <a:ext cx="180380" cy="14644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IQR</a:t>
            </a:r>
            <a:endParaRPr lang="en-US" sz="800" dirty="0"/>
          </a:p>
        </p:txBody>
      </p:sp>
      <p:sp>
        <p:nvSpPr>
          <p:cNvPr id="19" name="Text 15"/>
          <p:cNvSpPr/>
          <p:nvPr/>
        </p:nvSpPr>
        <p:spPr>
          <a:xfrm>
            <a:off x="3362083" y="3362865"/>
            <a:ext cx="592931" cy="146447"/>
          </a:xfrm>
          <a:prstGeom prst="rect">
            <a:avLst/>
          </a:prstGeom>
          <a:noFill/>
          <a:ln/>
        </p:spPr>
        <p:txBody>
          <a:bodyPr wrap="none" lIns="0" tIns="0" rIns="0" bIns="0" rtlCol="0" anchor="t">
            <a:spAutoFit/>
          </a:bodyPr>
          <a:lstStyle/>
          <a:p>
            <a:pPr algn="l" indent="0" marL="0">
              <a:buNone/>
            </a:pPr>
            <a:r>
              <a:rPr lang="en-US" sz="850" b="1" dirty="0">
                <a:solidFill>
                  <a:srgbClr val="64FFDA"/>
                </a:solidFill>
                <a:latin typeface="Inter Bold" pitchFamily="34" charset="0"/>
                <a:ea typeface="Inter Bold" pitchFamily="34" charset="-122"/>
                <a:cs typeface="Inter Bold" pitchFamily="34" charset="-120"/>
              </a:rPr>
              <a:t>$11,911.37</a:t>
            </a:r>
            <a:endParaRPr lang="en-US" sz="850" dirty="0"/>
          </a:p>
        </p:txBody>
      </p:sp>
      <p:sp>
        <p:nvSpPr>
          <p:cNvPr id="20" name="Text 16"/>
          <p:cNvSpPr/>
          <p:nvPr/>
        </p:nvSpPr>
        <p:spPr>
          <a:xfrm>
            <a:off x="571500" y="3737911"/>
            <a:ext cx="3383514" cy="208955"/>
          </a:xfrm>
          <a:prstGeom prst="rect">
            <a:avLst/>
          </a:prstGeom>
          <a:noFill/>
          <a:ln/>
        </p:spPr>
        <p:txBody>
          <a:bodyPr wrap="square" lIns="0" tIns="0" rIns="0" bIns="68072"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DISTRIBUTION SHAPE</a:t>
            </a:r>
            <a:endParaRPr lang="en-US" sz="800" dirty="0"/>
          </a:p>
        </p:txBody>
      </p:sp>
      <p:sp>
        <p:nvSpPr>
          <p:cNvPr id="21" name="Text 17"/>
          <p:cNvSpPr/>
          <p:nvPr/>
        </p:nvSpPr>
        <p:spPr>
          <a:xfrm>
            <a:off x="571500" y="4054022"/>
            <a:ext cx="514350" cy="14644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Skewness</a:t>
            </a:r>
            <a:endParaRPr lang="en-US" sz="800" dirty="0"/>
          </a:p>
        </p:txBody>
      </p:sp>
      <p:sp>
        <p:nvSpPr>
          <p:cNvPr id="22" name="Text 18"/>
          <p:cNvSpPr/>
          <p:nvPr/>
        </p:nvSpPr>
        <p:spPr>
          <a:xfrm>
            <a:off x="3578182" y="4054022"/>
            <a:ext cx="376833" cy="146447"/>
          </a:xfrm>
          <a:prstGeom prst="rect">
            <a:avLst/>
          </a:prstGeom>
          <a:noFill/>
          <a:ln/>
        </p:spPr>
        <p:txBody>
          <a:bodyPr wrap="none" lIns="0" tIns="0" rIns="0" bIns="0" rtlCol="0" anchor="t">
            <a:spAutoFit/>
          </a:bodyPr>
          <a:lstStyle/>
          <a:p>
            <a:pPr algn="l" indent="0" marL="0">
              <a:buNone/>
            </a:pPr>
            <a:r>
              <a:rPr lang="en-US" sz="850" b="1" dirty="0">
                <a:solidFill>
                  <a:srgbClr val="64FFDA"/>
                </a:solidFill>
                <a:latin typeface="Inter Bold" pitchFamily="34" charset="0"/>
                <a:ea typeface="Inter Bold" pitchFamily="34" charset="-122"/>
                <a:cs typeface="Inter Bold" pitchFamily="34" charset="-120"/>
              </a:rPr>
              <a:t>1.5154</a:t>
            </a:r>
            <a:endParaRPr lang="en-US" sz="850" dirty="0"/>
          </a:p>
        </p:txBody>
      </p:sp>
      <p:sp>
        <p:nvSpPr>
          <p:cNvPr id="23" name="Text 19"/>
          <p:cNvSpPr/>
          <p:nvPr/>
        </p:nvSpPr>
        <p:spPr>
          <a:xfrm>
            <a:off x="571500" y="4321913"/>
            <a:ext cx="412552" cy="14644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Kurtosis</a:t>
            </a:r>
            <a:endParaRPr lang="en-US" sz="800" dirty="0"/>
          </a:p>
        </p:txBody>
      </p:sp>
      <p:sp>
        <p:nvSpPr>
          <p:cNvPr id="24" name="Text 20"/>
          <p:cNvSpPr/>
          <p:nvPr/>
        </p:nvSpPr>
        <p:spPr>
          <a:xfrm>
            <a:off x="3546035" y="4321913"/>
            <a:ext cx="408980" cy="146447"/>
          </a:xfrm>
          <a:prstGeom prst="rect">
            <a:avLst/>
          </a:prstGeom>
          <a:noFill/>
          <a:ln/>
        </p:spPr>
        <p:txBody>
          <a:bodyPr wrap="none" lIns="0" tIns="0" rIns="0" bIns="0" rtlCol="0" anchor="t">
            <a:spAutoFit/>
          </a:bodyPr>
          <a:lstStyle/>
          <a:p>
            <a:pPr algn="l" indent="0" marL="0">
              <a:buNone/>
            </a:pPr>
            <a:r>
              <a:rPr lang="en-US" sz="850" b="1" dirty="0">
                <a:solidFill>
                  <a:srgbClr val="64FFDA"/>
                </a:solidFill>
                <a:latin typeface="Inter Bold" pitchFamily="34" charset="0"/>
                <a:ea typeface="Inter Bold" pitchFamily="34" charset="-122"/>
                <a:cs typeface="Inter Bold" pitchFamily="34" charset="-120"/>
              </a:rPr>
              <a:t>1.6042</a:t>
            </a:r>
            <a:endParaRPr lang="en-US" sz="850" dirty="0"/>
          </a:p>
        </p:txBody>
      </p:sp>
      <p:sp>
        <p:nvSpPr>
          <p:cNvPr id="25" name="Shape 21"/>
          <p:cNvSpPr/>
          <p:nvPr/>
        </p:nvSpPr>
        <p:spPr>
          <a:xfrm>
            <a:off x="4312202" y="1564425"/>
            <a:ext cx="4403173" cy="2443163"/>
          </a:xfrm>
          <a:prstGeom prst="rect">
            <a:avLst/>
          </a:prstGeom>
          <a:solidFill>
            <a:srgbClr val="112240"/>
          </a:solidFill>
          <a:ln w="9144">
            <a:solidFill>
              <a:srgbClr val="172A45"/>
            </a:solidFill>
            <a:prstDash val="solid"/>
          </a:ln>
        </p:spPr>
      </p:sp>
      <p:pic>
        <p:nvPicPr>
          <p:cNvPr id="26" name="Image 1" descr="preencoded.png">    </p:cNvPr>
          <p:cNvPicPr>
            <a:picLocks noChangeAspect="1"/>
          </p:cNvPicPr>
          <p:nvPr/>
        </p:nvPicPr>
        <p:blipFill>
          <a:blip r:embed="rId2"/>
          <a:stretch>
            <a:fillRect/>
          </a:stretch>
        </p:blipFill>
        <p:spPr>
          <a:xfrm>
            <a:off x="4455077" y="1707300"/>
            <a:ext cx="4102298" cy="2143125"/>
          </a:xfrm>
          <a:prstGeom prst="rect">
            <a:avLst/>
          </a:prstGeom>
        </p:spPr>
      </p:pic>
      <p:sp>
        <p:nvSpPr>
          <p:cNvPr id="27" name="Text 22"/>
          <p:cNvSpPr/>
          <p:nvPr/>
        </p:nvSpPr>
        <p:spPr>
          <a:xfrm>
            <a:off x="4312202" y="4357632"/>
            <a:ext cx="4403173" cy="342900"/>
          </a:xfrm>
          <a:prstGeom prst="rect">
            <a:avLst/>
          </a:prstGeom>
          <a:noFill/>
          <a:ln/>
        </p:spPr>
        <p:txBody>
          <a:bodyPr wrap="square" lIns="0" tIns="0" rIns="0" bIns="0" rtlCol="0" anchor="t">
            <a:spAutoFit/>
          </a:bodyPr>
          <a:lstStyle/>
          <a:p>
            <a:pPr algn="l" indent="0" marL="0">
              <a:lnSpc>
                <a:spcPct val="128000"/>
              </a:lnSpc>
              <a:buNone/>
            </a:pPr>
            <a:r>
              <a:rPr lang="en-US" sz="800" dirty="0">
                <a:solidFill>
                  <a:srgbClr val="64FFDA"/>
                </a:solidFill>
                <a:latin typeface="Inter" pitchFamily="34" charset="0"/>
                <a:ea typeface="Inter" pitchFamily="34" charset="-122"/>
                <a:cs typeface="Inter" pitchFamily="34" charset="-120"/>
              </a:rPr>
              <a:t>Visual Insight:</a:t>
            </a:r>
            <a:r>
              <a:rPr lang="en-US" sz="800" dirty="0">
                <a:solidFill>
                  <a:srgbClr val="CCD6F6"/>
                </a:solidFill>
                <a:latin typeface="Inter" pitchFamily="34" charset="0"/>
                <a:ea typeface="Inter" pitchFamily="34" charset="-122"/>
                <a:cs typeface="Inter" pitchFamily="34" charset="-120"/>
              </a:rPr>
              <a:t> The distribution exhibits a </a:t>
            </a:r>
            <a:r>
              <a:rPr lang="en-US" sz="800" dirty="0">
                <a:solidFill>
                  <a:srgbClr val="64FFDA"/>
                </a:solidFill>
                <a:latin typeface="Inter" pitchFamily="34" charset="0"/>
                <a:ea typeface="Inter" pitchFamily="34" charset="-122"/>
                <a:cs typeface="Inter" pitchFamily="34" charset="-120"/>
              </a:rPr>
              <a:t>Strong Right Skew</a:t>
            </a:r>
            <a:r>
              <a:rPr lang="en-US" sz="800" dirty="0">
                <a:solidFill>
                  <a:srgbClr val="CCD6F6"/>
                </a:solidFill>
                <a:latin typeface="Inter" pitchFamily="34" charset="0"/>
                <a:ea typeface="Inter" pitchFamily="34" charset="-122"/>
                <a:cs typeface="Inter" pitchFamily="34" charset="-120"/>
              </a:rPr>
              <a:t>. The mean is significantly </a:t>
            </a:r>
            <a:r>
              <a:rPr lang="en-US" sz="800" dirty="0">
                <a:solidFill>
                  <a:srgbClr val="CCD6F6"/>
                </a:solidFill>
                <a:latin typeface="Inter" pitchFamily="34" charset="0"/>
                <a:ea typeface="Inter" pitchFamily="34" charset="-122"/>
                <a:cs typeface="Inter" pitchFamily="34" charset="-120"/>
              </a:rPr>
              <a:t>pulled higher than the median by the high-cost "long tail" of extreme claims.</a:t>
            </a:r>
            <a:endParaRPr lang="en-US" sz="800" dirty="0"/>
          </a:p>
        </p:txBody>
      </p:sp>
      <p:sp>
        <p:nvSpPr>
          <p:cNvPr id="28" name="Text 23"/>
          <p:cNvSpPr/>
          <p:nvPr/>
        </p:nvSpPr>
        <p:spPr>
          <a:xfrm>
            <a:off x="4312202" y="4807688"/>
            <a:ext cx="4403173" cy="121444"/>
          </a:xfrm>
          <a:prstGeom prst="rect">
            <a:avLst/>
          </a:prstGeom>
          <a:noFill/>
          <a:ln/>
        </p:spPr>
        <p:txBody>
          <a:bodyPr wrap="square" lIns="0" tIns="0" rIns="0" bIns="0" rtlCol="0" anchor="t">
            <a:spAutoFit/>
          </a:bodyPr>
          <a:lstStyle/>
          <a:p>
            <a:pPr algn="l" indent="0" marL="0">
              <a:buNone/>
            </a:pPr>
            <a:r>
              <a:rPr lang="en-US" sz="750" dirty="0">
                <a:solidFill>
                  <a:srgbClr val="8892B0"/>
                </a:solidFill>
                <a:latin typeface="Inter" pitchFamily="34" charset="0"/>
                <a:ea typeface="Inter" pitchFamily="34" charset="-122"/>
                <a:cs typeface="Inter" pitchFamily="34" charset="-120"/>
              </a:rPr>
              <a:t>90th Percentile: $34,832.74 | Q3: $16,657.72</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428625" y="515466"/>
            <a:ext cx="8715375" cy="414338"/>
          </a:xfrm>
          <a:prstGeom prst="rect">
            <a:avLst/>
          </a:prstGeom>
          <a:noFill/>
          <a:ln/>
        </p:spPr>
        <p:txBody>
          <a:bodyPr wrap="square" lIns="0" tIns="0" rIns="0" bIns="0" rtlCol="0" anchor="t">
            <a:spAutoFit/>
          </a:bodyPr>
          <a:lstStyle/>
          <a:p>
            <a:pPr algn="l" indent="0" marL="0">
              <a:buNone/>
            </a:pPr>
            <a:r>
              <a:rPr lang="en-US" sz="2450" b="1" dirty="0">
                <a:solidFill>
                  <a:srgbClr val="64FFDA"/>
                </a:solidFill>
                <a:latin typeface="Inter Black" pitchFamily="34" charset="0"/>
                <a:ea typeface="Inter Black" pitchFamily="34" charset="-122"/>
                <a:cs typeface="Inter Black" pitchFamily="34" charset="-120"/>
              </a:rPr>
              <a:t>CO3: PROBABILITY ANALYSIS</a:t>
            </a:r>
            <a:endParaRPr lang="en-US" sz="2450" dirty="0"/>
          </a:p>
        </p:txBody>
      </p:sp>
      <p:sp>
        <p:nvSpPr>
          <p:cNvPr id="5" name="Text 1"/>
          <p:cNvSpPr/>
          <p:nvPr/>
        </p:nvSpPr>
        <p:spPr>
          <a:xfrm>
            <a:off x="428625" y="1072093"/>
            <a:ext cx="8715375" cy="207169"/>
          </a:xfrm>
          <a:prstGeom prst="rect">
            <a:avLst/>
          </a:prstGeom>
          <a:noFill/>
          <a:ln/>
        </p:spPr>
        <p:txBody>
          <a:bodyPr wrap="square" lIns="0" tIns="0" rIns="0" bIns="0" rtlCol="0" anchor="t">
            <a:spAutoFit/>
          </a:bodyPr>
          <a:lstStyle/>
          <a:p>
            <a:pPr algn="l" indent="0" marL="0">
              <a:buNone/>
            </a:pPr>
            <a:r>
              <a:rPr lang="en-US" sz="1200" b="1" dirty="0">
                <a:solidFill>
                  <a:srgbClr val="8892B0"/>
                </a:solidFill>
                <a:latin typeface="Inter Bold" pitchFamily="34" charset="0"/>
                <a:ea typeface="Inter Bold" pitchFamily="34" charset="-122"/>
                <a:cs typeface="Inter Bold" pitchFamily="34" charset="-120"/>
              </a:rPr>
              <a:t>Risk Modeling &amp; Bayes' Theorem Verification</a:t>
            </a:r>
            <a:endParaRPr lang="en-US" sz="1200" dirty="0"/>
          </a:p>
        </p:txBody>
      </p:sp>
      <p:sp>
        <p:nvSpPr>
          <p:cNvPr id="6" name="Text 2"/>
          <p:cNvSpPr/>
          <p:nvPr/>
        </p:nvSpPr>
        <p:spPr>
          <a:xfrm>
            <a:off x="428625" y="1564425"/>
            <a:ext cx="4036219" cy="146447"/>
          </a:xfrm>
          <a:prstGeom prst="rect">
            <a:avLst/>
          </a:prstGeom>
          <a:noFill/>
          <a:ln/>
        </p:spPr>
        <p:txBody>
          <a:bodyPr wrap="square" lIns="0" tIns="0" rIns="0" bIns="0" rtlCol="0" anchor="t">
            <a:spAutoFit/>
          </a:bodyPr>
          <a:lstStyle/>
          <a:p>
            <a:pPr algn="l" indent="0" marL="0">
              <a:buNone/>
            </a:pPr>
            <a:r>
              <a:rPr lang="en-US" sz="900" i="1" dirty="0">
                <a:solidFill>
                  <a:srgbClr val="8892B0"/>
                </a:solidFill>
                <a:latin typeface="Inter" pitchFamily="34" charset="0"/>
                <a:ea typeface="Inter" pitchFamily="34" charset="-122"/>
                <a:cs typeface="Inter" pitchFamily="34" charset="-120"/>
              </a:rPr>
              <a:t>High Charge Event (H): Charges &gt; $16,657.72 (Q3)</a:t>
            </a:r>
            <a:endParaRPr lang="en-US" sz="900" dirty="0"/>
          </a:p>
        </p:txBody>
      </p:sp>
      <p:sp>
        <p:nvSpPr>
          <p:cNvPr id="7" name="Shape 3"/>
          <p:cNvSpPr/>
          <p:nvPr/>
        </p:nvSpPr>
        <p:spPr>
          <a:xfrm>
            <a:off x="428625" y="1896610"/>
            <a:ext cx="4036219" cy="1028700"/>
          </a:xfrm>
          <a:prstGeom prst="rect">
            <a:avLst/>
          </a:prstGeom>
          <a:solidFill>
            <a:srgbClr val="112240"/>
          </a:solidFill>
          <a:ln w="9144">
            <a:solidFill>
              <a:srgbClr val="172A45"/>
            </a:solidFill>
            <a:prstDash val="solid"/>
          </a:ln>
        </p:spPr>
      </p:sp>
      <p:sp>
        <p:nvSpPr>
          <p:cNvPr id="8" name="Text 4"/>
          <p:cNvSpPr/>
          <p:nvPr/>
        </p:nvSpPr>
        <p:spPr>
          <a:xfrm>
            <a:off x="542925" y="2010910"/>
            <a:ext cx="3807619" cy="128588"/>
          </a:xfrm>
          <a:prstGeom prst="rect">
            <a:avLst/>
          </a:prstGeom>
          <a:noFill/>
          <a:ln/>
        </p:spPr>
        <p:txBody>
          <a:bodyPr wrap="square" lIns="0" tIns="0" rIns="0" bIns="0" rtlCol="0" anchor="t">
            <a:spAutoFit/>
          </a:bodyPr>
          <a:lstStyle/>
          <a:p>
            <a:pPr algn="l" indent="0" marL="0">
              <a:buNone/>
            </a:pPr>
            <a:r>
              <a:rPr lang="en-US" sz="750" b="1" dirty="0">
                <a:solidFill>
                  <a:srgbClr val="64FFDA"/>
                </a:solidFill>
                <a:latin typeface="Inter Bold" pitchFamily="34" charset="0"/>
                <a:ea typeface="Inter Bold" pitchFamily="34" charset="-122"/>
                <a:cs typeface="Inter Bold" pitchFamily="34" charset="-120"/>
              </a:rPr>
              <a:t>MARGINAL PROBABILITIES</a:t>
            </a:r>
            <a:endParaRPr lang="en-US" sz="750" dirty="0"/>
          </a:p>
        </p:txBody>
      </p:sp>
      <p:sp>
        <p:nvSpPr>
          <p:cNvPr id="9" name="Text 5"/>
          <p:cNvSpPr/>
          <p:nvPr/>
        </p:nvSpPr>
        <p:spPr>
          <a:xfrm>
            <a:off x="542925" y="2210935"/>
            <a:ext cx="3807619" cy="225028"/>
          </a:xfrm>
          <a:prstGeom prst="rect">
            <a:avLst/>
          </a:prstGeom>
          <a:noFill/>
          <a:ln/>
        </p:spPr>
        <p:txBody>
          <a:bodyPr wrap="square" lIns="0" tIns="0" rIns="0" bIns="0" rtlCol="0" anchor="t">
            <a:spAutoFit/>
          </a:bodyPr>
          <a:lstStyle/>
          <a:p>
            <a:pPr algn="l" indent="0" marL="0">
              <a:buNone/>
            </a:pPr>
            <a:r>
              <a:rPr lang="en-US" sz="1300" b="1" dirty="0">
                <a:solidFill>
                  <a:srgbClr val="CCD6F6"/>
                </a:solidFill>
                <a:latin typeface="Inter Bold" pitchFamily="34" charset="0"/>
                <a:ea typeface="Inter Bold" pitchFamily="34" charset="-122"/>
                <a:cs typeface="Inter Bold" pitchFamily="34" charset="-120"/>
              </a:rPr>
              <a:t>P(H) = 0.2498</a:t>
            </a:r>
            <a:endParaRPr lang="en-US" sz="1300" dirty="0"/>
          </a:p>
        </p:txBody>
      </p:sp>
      <p:sp>
        <p:nvSpPr>
          <p:cNvPr id="10" name="Text 6"/>
          <p:cNvSpPr/>
          <p:nvPr/>
        </p:nvSpPr>
        <p:spPr>
          <a:xfrm>
            <a:off x="542925" y="2478825"/>
            <a:ext cx="3807619" cy="225028"/>
          </a:xfrm>
          <a:prstGeom prst="rect">
            <a:avLst/>
          </a:prstGeom>
          <a:noFill/>
          <a:ln/>
        </p:spPr>
        <p:txBody>
          <a:bodyPr wrap="square" lIns="0" tIns="0" rIns="0" bIns="0" rtlCol="0" anchor="t">
            <a:spAutoFit/>
          </a:bodyPr>
          <a:lstStyle/>
          <a:p>
            <a:pPr algn="l" indent="0" marL="0">
              <a:buNone/>
            </a:pPr>
            <a:r>
              <a:rPr lang="en-US" sz="1300" b="1" dirty="0">
                <a:solidFill>
                  <a:srgbClr val="CCD6F6"/>
                </a:solidFill>
                <a:latin typeface="Inter Bold" pitchFamily="34" charset="0"/>
                <a:ea typeface="Inter Bold" pitchFamily="34" charset="-122"/>
                <a:cs typeface="Inter Bold" pitchFamily="34" charset="-120"/>
              </a:rPr>
              <a:t>P(Smoker) = 0.2049</a:t>
            </a:r>
            <a:endParaRPr lang="en-US" sz="1300" dirty="0"/>
          </a:p>
        </p:txBody>
      </p:sp>
      <p:sp>
        <p:nvSpPr>
          <p:cNvPr id="11" name="Shape 7"/>
          <p:cNvSpPr/>
          <p:nvPr/>
        </p:nvSpPr>
        <p:spPr>
          <a:xfrm>
            <a:off x="428625" y="3011035"/>
            <a:ext cx="4036219" cy="1028700"/>
          </a:xfrm>
          <a:prstGeom prst="rect">
            <a:avLst/>
          </a:prstGeom>
          <a:solidFill>
            <a:srgbClr val="112240"/>
          </a:solidFill>
          <a:ln w="9144">
            <a:solidFill>
              <a:srgbClr val="172A45"/>
            </a:solidFill>
            <a:prstDash val="solid"/>
          </a:ln>
        </p:spPr>
      </p:sp>
      <p:sp>
        <p:nvSpPr>
          <p:cNvPr id="12" name="Text 8"/>
          <p:cNvSpPr/>
          <p:nvPr/>
        </p:nvSpPr>
        <p:spPr>
          <a:xfrm>
            <a:off x="542925" y="3125335"/>
            <a:ext cx="3807619" cy="128588"/>
          </a:xfrm>
          <a:prstGeom prst="rect">
            <a:avLst/>
          </a:prstGeom>
          <a:noFill/>
          <a:ln/>
        </p:spPr>
        <p:txBody>
          <a:bodyPr wrap="square" lIns="0" tIns="0" rIns="0" bIns="0" rtlCol="0" anchor="t">
            <a:spAutoFit/>
          </a:bodyPr>
          <a:lstStyle/>
          <a:p>
            <a:pPr algn="l" indent="0" marL="0">
              <a:buNone/>
            </a:pPr>
            <a:r>
              <a:rPr lang="en-US" sz="750" b="1" dirty="0">
                <a:solidFill>
                  <a:srgbClr val="64FFDA"/>
                </a:solidFill>
                <a:latin typeface="Inter Bold" pitchFamily="34" charset="0"/>
                <a:ea typeface="Inter Bold" pitchFamily="34" charset="-122"/>
                <a:cs typeface="Inter Bold" pitchFamily="34" charset="-120"/>
              </a:rPr>
              <a:t>CONDITIONAL PROBABILITIES</a:t>
            </a:r>
            <a:endParaRPr lang="en-US" sz="750" dirty="0"/>
          </a:p>
        </p:txBody>
      </p:sp>
      <p:sp>
        <p:nvSpPr>
          <p:cNvPr id="13" name="Text 9"/>
          <p:cNvSpPr/>
          <p:nvPr/>
        </p:nvSpPr>
        <p:spPr>
          <a:xfrm>
            <a:off x="542925" y="3325360"/>
            <a:ext cx="3807619" cy="225028"/>
          </a:xfrm>
          <a:prstGeom prst="rect">
            <a:avLst/>
          </a:prstGeom>
          <a:noFill/>
          <a:ln/>
        </p:spPr>
        <p:txBody>
          <a:bodyPr wrap="square" lIns="0" tIns="0" rIns="0" bIns="0" rtlCol="0" anchor="t">
            <a:spAutoFit/>
          </a:bodyPr>
          <a:lstStyle/>
          <a:p>
            <a:pPr algn="l" indent="0" marL="0">
              <a:buNone/>
            </a:pPr>
            <a:r>
              <a:rPr lang="en-US" sz="1300" b="1" dirty="0">
                <a:solidFill>
                  <a:srgbClr val="CCD6F6"/>
                </a:solidFill>
                <a:latin typeface="Inter Bold" pitchFamily="34" charset="0"/>
                <a:ea typeface="Inter Bold" pitchFamily="34" charset="-122"/>
                <a:cs typeface="Inter Bold" pitchFamily="34" charset="-120"/>
              </a:rPr>
              <a:t>P(H | Smoker) = 0.9270</a:t>
            </a:r>
            <a:endParaRPr lang="en-US" sz="1300" dirty="0"/>
          </a:p>
        </p:txBody>
      </p:sp>
      <p:sp>
        <p:nvSpPr>
          <p:cNvPr id="14" name="Text 10"/>
          <p:cNvSpPr/>
          <p:nvPr/>
        </p:nvSpPr>
        <p:spPr>
          <a:xfrm>
            <a:off x="542925" y="3593250"/>
            <a:ext cx="3807619" cy="225028"/>
          </a:xfrm>
          <a:prstGeom prst="rect">
            <a:avLst/>
          </a:prstGeom>
          <a:noFill/>
          <a:ln/>
        </p:spPr>
        <p:txBody>
          <a:bodyPr wrap="square" lIns="0" tIns="0" rIns="0" bIns="0" rtlCol="0" anchor="t">
            <a:spAutoFit/>
          </a:bodyPr>
          <a:lstStyle/>
          <a:p>
            <a:pPr algn="l" indent="0" marL="0">
              <a:buNone/>
            </a:pPr>
            <a:r>
              <a:rPr lang="en-US" sz="1300" b="1" dirty="0">
                <a:solidFill>
                  <a:srgbClr val="CCD6F6"/>
                </a:solidFill>
                <a:latin typeface="Inter Bold" pitchFamily="34" charset="0"/>
                <a:ea typeface="Inter Bold" pitchFamily="34" charset="-122"/>
                <a:cs typeface="Inter Bold" pitchFamily="34" charset="-120"/>
              </a:rPr>
              <a:t>P(Smoker | H) = 0.7605</a:t>
            </a:r>
            <a:endParaRPr lang="en-US" sz="1300" dirty="0"/>
          </a:p>
        </p:txBody>
      </p:sp>
      <p:sp>
        <p:nvSpPr>
          <p:cNvPr id="15" name="Shape 11"/>
          <p:cNvSpPr/>
          <p:nvPr/>
        </p:nvSpPr>
        <p:spPr>
          <a:xfrm>
            <a:off x="4679156" y="1564425"/>
            <a:ext cx="4036219" cy="3285623"/>
          </a:xfrm>
          <a:prstGeom prst="rect">
            <a:avLst/>
          </a:prstGeom>
          <a:solidFill>
            <a:srgbClr val="0D1D36"/>
          </a:solidFill>
          <a:ln w="9144">
            <a:solidFill>
              <a:srgbClr val="64FFDA"/>
            </a:solidFill>
            <a:prstDash val="solid"/>
          </a:ln>
        </p:spPr>
      </p:sp>
      <p:sp>
        <p:nvSpPr>
          <p:cNvPr id="16" name="Text 12"/>
          <p:cNvSpPr/>
          <p:nvPr/>
        </p:nvSpPr>
        <p:spPr>
          <a:xfrm>
            <a:off x="4822031" y="1707300"/>
            <a:ext cx="3750469" cy="173236"/>
          </a:xfrm>
          <a:prstGeom prst="rect">
            <a:avLst/>
          </a:prstGeom>
          <a:noFill/>
          <a:ln/>
        </p:spPr>
        <p:txBody>
          <a:bodyPr wrap="square" lIns="0" tIns="0" rIns="0" bIns="0" rtlCol="0" anchor="t">
            <a:spAutoFit/>
          </a:bodyPr>
          <a:lstStyle/>
          <a:p>
            <a:pPr algn="ctr" indent="0" marL="0">
              <a:buNone/>
            </a:pPr>
            <a:r>
              <a:rPr lang="en-US" sz="1000" b="1" dirty="0">
                <a:solidFill>
                  <a:srgbClr val="64FFDA"/>
                </a:solidFill>
                <a:latin typeface="Inter Bold" pitchFamily="34" charset="0"/>
                <a:ea typeface="Inter Bold" pitchFamily="34" charset="-122"/>
                <a:cs typeface="Inter Bold" pitchFamily="34" charset="-120"/>
              </a:rPr>
              <a:t>BAYES' THEOREM VERIFICATION</a:t>
            </a:r>
            <a:endParaRPr lang="en-US" sz="1000" dirty="0"/>
          </a:p>
        </p:txBody>
      </p:sp>
      <p:sp>
        <p:nvSpPr>
          <p:cNvPr id="17" name="Text 13"/>
          <p:cNvSpPr/>
          <p:nvPr/>
        </p:nvSpPr>
        <p:spPr>
          <a:xfrm>
            <a:off x="4822031" y="2009124"/>
            <a:ext cx="3750469" cy="2683762"/>
          </a:xfrm>
          <a:prstGeom prst="rect">
            <a:avLst/>
          </a:prstGeom>
          <a:noFill/>
          <a:ln/>
        </p:spPr>
        <p:txBody>
          <a:bodyPr wrap="square" lIns="0" tIns="0" rIns="0" bIns="0" rtlCol="0" anchor="t">
            <a:spAutoFit/>
          </a:bodyPr>
          <a:lstStyle/>
          <a:p>
            <a:pPr algn="l" indent="0" marL="0">
              <a:lnSpc>
                <a:spcPct val="136000"/>
              </a:lnSpc>
              <a:buNone/>
            </a:pPr>
            <a:r>
              <a:rPr lang="en-US" sz="900" dirty="0">
                <a:solidFill>
                  <a:srgbClr val="CCD6F6"/>
                </a:solidFill>
                <a:latin typeface="Fira Code" pitchFamily="34" charset="0"/>
                <a:ea typeface="Fira Code" pitchFamily="34" charset="-122"/>
                <a:cs typeface="Fira Code" pitchFamily="34" charset="-120"/>
              </a:rPr>
              <a:t>P(S|H) = </a:t>
            </a:r>
            <a:r>
              <a:rPr lang="en-US" sz="850" b="1" dirty="0">
                <a:solidFill>
                  <a:srgbClr val="64FFDA"/>
                </a:solidFill>
                <a:latin typeface="Fira Code Bold" pitchFamily="34" charset="0"/>
                <a:ea typeface="Fira Code Bold" pitchFamily="34" charset="-122"/>
                <a:cs typeface="Fira Code Bold" pitchFamily="34" charset="-120"/>
              </a:rPr>
              <a:t>[P(H|S) × P(S)] / P(H)</a:t>
            </a:r>
            <a:r>
              <a:rPr lang="en-US" sz="900" dirty="0">
                <a:solidFill>
                  <a:srgbClr val="CCD6F6"/>
                </a:solidFill>
                <a:latin typeface="Fira Code" pitchFamily="34" charset="0"/>
                <a:ea typeface="Fira Code" pitchFamily="34" charset="-122"/>
                <a:cs typeface="Fira Code" pitchFamily="34" charset="-120"/>
              </a:rPr>
              <a:t> </a:t>
            </a:r>
            <a:r>
              <a:rPr lang="en-US" sz="900" dirty="0">
                <a:solidFill>
                  <a:srgbClr val="CCD6F6"/>
                </a:solidFill>
                <a:latin typeface="Fira Code" pitchFamily="34" charset="0"/>
                <a:ea typeface="Fira Code" pitchFamily="34" charset="-122"/>
                <a:cs typeface="Fira Code" pitchFamily="34" charset="-120"/>
              </a:rPr>
              <a:t>
</a:t>
            </a:r>
            <a:r>
              <a:rPr lang="en-US" sz="900" dirty="0">
                <a:solidFill>
                  <a:srgbClr val="CCD6F6"/>
                </a:solidFill>
                <a:latin typeface="Fira Code" pitchFamily="34" charset="0"/>
                <a:ea typeface="Fira Code" pitchFamily="34" charset="-122"/>
                <a:cs typeface="Fira Code" pitchFamily="34" charset="-120"/>
              </a:rPr>
              <a:t> Substituting Values:</a:t>
            </a:r>
            <a:r>
              <a:rPr lang="en-US" sz="900" dirty="0">
                <a:solidFill>
                  <a:srgbClr val="CCD6F6"/>
                </a:solidFill>
                <a:latin typeface="Fira Code" pitchFamily="34" charset="0"/>
                <a:ea typeface="Fira Code" pitchFamily="34" charset="-122"/>
                <a:cs typeface="Fira Code" pitchFamily="34" charset="-120"/>
              </a:rPr>
              <a:t>
</a:t>
            </a:r>
            <a:r>
              <a:rPr lang="en-US" sz="900" dirty="0">
                <a:solidFill>
                  <a:srgbClr val="CCD6F6"/>
                </a:solidFill>
                <a:latin typeface="Fira Code" pitchFamily="34" charset="0"/>
                <a:ea typeface="Fira Code" pitchFamily="34" charset="-122"/>
                <a:cs typeface="Fira Code" pitchFamily="34" charset="-120"/>
              </a:rPr>
              <a:t>= [0.9270 × 0.2049] / 0.2498 </a:t>
            </a:r>
            <a:r>
              <a:rPr lang="en-US" sz="900" dirty="0">
                <a:solidFill>
                  <a:srgbClr val="CCD6F6"/>
                </a:solidFill>
                <a:latin typeface="Fira Code" pitchFamily="34" charset="0"/>
                <a:ea typeface="Fira Code" pitchFamily="34" charset="-122"/>
                <a:cs typeface="Fira Code" pitchFamily="34" charset="-120"/>
              </a:rPr>
              <a:t>
</a:t>
            </a:r>
            <a:r>
              <a:rPr lang="en-US" sz="900" dirty="0">
                <a:solidFill>
                  <a:srgbClr val="CCD6F6"/>
                </a:solidFill>
                <a:latin typeface="Fira Code" pitchFamily="34" charset="0"/>
                <a:ea typeface="Fira Code" pitchFamily="34" charset="-122"/>
                <a:cs typeface="Fira Code" pitchFamily="34" charset="-120"/>
              </a:rPr>
              <a:t> Calculation:</a:t>
            </a:r>
            <a:r>
              <a:rPr lang="en-US" sz="900" dirty="0">
                <a:solidFill>
                  <a:srgbClr val="CCD6F6"/>
                </a:solidFill>
                <a:latin typeface="Fira Code" pitchFamily="34" charset="0"/>
                <a:ea typeface="Fira Code" pitchFamily="34" charset="-122"/>
                <a:cs typeface="Fira Code" pitchFamily="34" charset="-120"/>
              </a:rPr>
              <a:t>
</a:t>
            </a:r>
            <a:r>
              <a:rPr lang="en-US" sz="900" dirty="0">
                <a:solidFill>
                  <a:srgbClr val="CCD6F6"/>
                </a:solidFill>
                <a:latin typeface="Fira Code" pitchFamily="34" charset="0"/>
                <a:ea typeface="Fira Code" pitchFamily="34" charset="-122"/>
                <a:cs typeface="Fira Code" pitchFamily="34" charset="-120"/>
              </a:rPr>
              <a:t>= 0.18994 / 0.2498 </a:t>
            </a:r>
            <a:r>
              <a:rPr lang="en-US" sz="900" dirty="0">
                <a:solidFill>
                  <a:srgbClr val="CCD6F6"/>
                </a:solidFill>
                <a:latin typeface="Fira Code" pitchFamily="34" charset="0"/>
                <a:ea typeface="Fira Code" pitchFamily="34" charset="-122"/>
                <a:cs typeface="Fira Code" pitchFamily="34" charset="-120"/>
              </a:rPr>
              <a:t>
</a:t>
            </a:r>
            <a:r>
              <a:rPr lang="en-US" sz="900" dirty="0">
                <a:solidFill>
                  <a:srgbClr val="CCD6F6"/>
                </a:solidFill>
                <a:latin typeface="Fira Code" pitchFamily="34" charset="0"/>
                <a:ea typeface="Fira Code" pitchFamily="34" charset="-122"/>
                <a:cs typeface="Fira Code" pitchFamily="34" charset="-120"/>
              </a:rPr>
              <a:t> Result:</a:t>
            </a:r>
            <a:r>
              <a:rPr lang="en-US" sz="900" dirty="0">
                <a:solidFill>
                  <a:srgbClr val="CCD6F6"/>
                </a:solidFill>
                <a:latin typeface="Fira Code" pitchFamily="34" charset="0"/>
                <a:ea typeface="Fira Code" pitchFamily="34" charset="-122"/>
                <a:cs typeface="Fira Code" pitchFamily="34" charset="-120"/>
              </a:rPr>
              <a:t>
</a:t>
            </a:r>
            <a:r>
              <a:rPr lang="en-US" sz="900" dirty="0">
                <a:solidFill>
                  <a:srgbClr val="CCD6F6"/>
                </a:solidFill>
                <a:latin typeface="Fira Code" pitchFamily="34" charset="0"/>
                <a:ea typeface="Fira Code" pitchFamily="34" charset="-122"/>
                <a:cs typeface="Fira Code" pitchFamily="34" charset="-120"/>
              </a:rPr>
              <a:t>= </a:t>
            </a:r>
            <a:r>
              <a:rPr lang="en-US" sz="850" b="1" dirty="0">
                <a:solidFill>
                  <a:srgbClr val="64FFDA"/>
                </a:solidFill>
                <a:latin typeface="Fira Code Bold" pitchFamily="34" charset="0"/>
                <a:ea typeface="Fira Code Bold" pitchFamily="34" charset="-122"/>
                <a:cs typeface="Fira Code Bold" pitchFamily="34" charset="-120"/>
              </a:rPr>
              <a:t>0.7605</a:t>
            </a:r>
            <a:r>
              <a:rPr lang="en-US" sz="900" dirty="0">
                <a:solidFill>
                  <a:srgbClr val="CCD6F6"/>
                </a:solidFill>
                <a:latin typeface="Fira Code" pitchFamily="34" charset="0"/>
                <a:ea typeface="Fira Code" pitchFamily="34" charset="-122"/>
                <a:cs typeface="Fira Code" pitchFamily="34" charset="-120"/>
              </a:rPr>
              <a:t> </a:t>
            </a:r>
            <a:r>
              <a:rPr lang="en-US" sz="900" dirty="0">
                <a:solidFill>
                  <a:srgbClr val="CCD6F6"/>
                </a:solidFill>
                <a:latin typeface="Fira Code" pitchFamily="34" charset="0"/>
                <a:ea typeface="Fira Code" pitchFamily="34" charset="-122"/>
                <a:cs typeface="Fira Code" pitchFamily="34" charset="-120"/>
              </a:rPr>
              <a:t>
</a:t>
            </a:r>
            <a:r>
              <a:rPr lang="en-US" sz="900" dirty="0">
                <a:solidFill>
                  <a:srgbClr val="CCD6F6"/>
                </a:solidFill>
                <a:latin typeface="Fira Code" pitchFamily="34" charset="0"/>
                <a:ea typeface="Fira Code" pitchFamily="34" charset="-122"/>
                <a:cs typeface="Fira Code" pitchFamily="34" charset="-120"/>
              </a:rPr>
              <a:t> </a:t>
            </a:r>
            <a:r>
              <a:rPr lang="en-US" sz="900" dirty="0">
                <a:solidFill>
                  <a:srgbClr val="64FFDA"/>
                </a:solidFill>
                <a:latin typeface="Fira Code" pitchFamily="34" charset="0"/>
                <a:ea typeface="Fira Code" pitchFamily="34" charset="-122"/>
                <a:cs typeface="Fira Code" pitchFamily="34" charset="-120"/>
              </a:rPr>
              <a:t>✓ Verified: Mathematical consistency across all </a:t>
            </a:r>
            <a:r>
              <a:rPr lang="en-US" sz="900" dirty="0">
                <a:solidFill>
                  <a:srgbClr val="64FFDA"/>
                </a:solidFill>
                <a:latin typeface="Fira Code" pitchFamily="34" charset="0"/>
                <a:ea typeface="Fira Code" pitchFamily="34" charset="-122"/>
                <a:cs typeface="Fira Code" pitchFamily="34" charset="-120"/>
              </a:rPr>
              <a:t>risk variables.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428625" y="515466"/>
            <a:ext cx="8715375" cy="414338"/>
          </a:xfrm>
          <a:prstGeom prst="rect">
            <a:avLst/>
          </a:prstGeom>
          <a:noFill/>
          <a:ln/>
        </p:spPr>
        <p:txBody>
          <a:bodyPr wrap="square" lIns="0" tIns="0" rIns="0" bIns="0" rtlCol="0" anchor="t">
            <a:spAutoFit/>
          </a:bodyPr>
          <a:lstStyle/>
          <a:p>
            <a:pPr algn="l" indent="0" marL="0">
              <a:buNone/>
            </a:pPr>
            <a:r>
              <a:rPr lang="en-US" sz="2450" b="1" dirty="0">
                <a:solidFill>
                  <a:srgbClr val="64FFDA"/>
                </a:solidFill>
                <a:latin typeface="Inter Black" pitchFamily="34" charset="0"/>
                <a:ea typeface="Inter Black" pitchFamily="34" charset="-122"/>
                <a:cs typeface="Inter Black" pitchFamily="34" charset="-120"/>
              </a:rPr>
              <a:t>STATISTICAL INFERENCE</a:t>
            </a:r>
            <a:endParaRPr lang="en-US" sz="2450" dirty="0"/>
          </a:p>
        </p:txBody>
      </p:sp>
      <p:sp>
        <p:nvSpPr>
          <p:cNvPr id="5" name="Text 1"/>
          <p:cNvSpPr/>
          <p:nvPr/>
        </p:nvSpPr>
        <p:spPr>
          <a:xfrm>
            <a:off x="428625" y="1072093"/>
            <a:ext cx="8715375" cy="207169"/>
          </a:xfrm>
          <a:prstGeom prst="rect">
            <a:avLst/>
          </a:prstGeom>
          <a:noFill/>
          <a:ln/>
        </p:spPr>
        <p:txBody>
          <a:bodyPr wrap="square" lIns="0" tIns="0" rIns="0" bIns="0" rtlCol="0" anchor="t">
            <a:spAutoFit/>
          </a:bodyPr>
          <a:lstStyle/>
          <a:p>
            <a:pPr algn="l" indent="0" marL="0">
              <a:buNone/>
            </a:pPr>
            <a:r>
              <a:rPr lang="en-US" sz="1200" b="1" dirty="0">
                <a:solidFill>
                  <a:srgbClr val="8892B0"/>
                </a:solidFill>
                <a:latin typeface="Inter Bold" pitchFamily="34" charset="0"/>
                <a:ea typeface="Inter Bold" pitchFamily="34" charset="-122"/>
                <a:cs typeface="Inter Bold" pitchFamily="34" charset="-120"/>
              </a:rPr>
              <a:t>Hypothesis Testing &amp; Sampling (CO4)</a:t>
            </a:r>
            <a:endParaRPr lang="en-US" sz="1200" dirty="0"/>
          </a:p>
        </p:txBody>
      </p:sp>
      <p:sp>
        <p:nvSpPr>
          <p:cNvPr id="6" name="Shape 2"/>
          <p:cNvSpPr/>
          <p:nvPr/>
        </p:nvSpPr>
        <p:spPr>
          <a:xfrm>
            <a:off x="428625" y="1564425"/>
            <a:ext cx="4071938" cy="3328988"/>
          </a:xfrm>
          <a:prstGeom prst="rect">
            <a:avLst/>
          </a:prstGeom>
          <a:solidFill>
            <a:srgbClr val="112240"/>
          </a:solidFill>
          <a:ln w="9144">
            <a:solidFill>
              <a:srgbClr val="172A45"/>
            </a:solidFill>
            <a:prstDash val="solid"/>
          </a:ln>
        </p:spPr>
      </p:sp>
      <p:sp>
        <p:nvSpPr>
          <p:cNvPr id="7" name="Text 3"/>
          <p:cNvSpPr/>
          <p:nvPr/>
        </p:nvSpPr>
        <p:spPr>
          <a:xfrm>
            <a:off x="514350" y="1650150"/>
            <a:ext cx="3900488" cy="226814"/>
          </a:xfrm>
          <a:prstGeom prst="rect">
            <a:avLst/>
          </a:prstGeom>
          <a:noFill/>
          <a:ln/>
        </p:spPr>
        <p:txBody>
          <a:bodyPr wrap="square" lIns="0" tIns="0" rIns="0" bIns="68072" rtlCol="0" anchor="t">
            <a:spAutoFit/>
          </a:bodyPr>
          <a:lstStyle/>
          <a:p>
            <a:pPr algn="l" indent="0" marL="0">
              <a:buNone/>
            </a:pPr>
            <a:r>
              <a:rPr lang="en-US" sz="900" b="1" dirty="0">
                <a:solidFill>
                  <a:srgbClr val="64FFDA"/>
                </a:solidFill>
                <a:latin typeface="Inter Bold" pitchFamily="34" charset="0"/>
                <a:ea typeface="Inter Bold" pitchFamily="34" charset="-122"/>
                <a:cs typeface="Inter Bold" pitchFamily="34" charset="-120"/>
              </a:rPr>
              <a:t>SAMPLING DISTRIBUTION &amp; CI</a:t>
            </a:r>
            <a:endParaRPr lang="en-US" sz="900" dirty="0"/>
          </a:p>
        </p:txBody>
      </p:sp>
      <p:sp>
        <p:nvSpPr>
          <p:cNvPr id="8" name="Text 4"/>
          <p:cNvSpPr/>
          <p:nvPr/>
        </p:nvSpPr>
        <p:spPr>
          <a:xfrm>
            <a:off x="514350" y="1962690"/>
            <a:ext cx="960834" cy="13751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Bootstrap Samples</a:t>
            </a:r>
            <a:endParaRPr lang="en-US" sz="800" dirty="0"/>
          </a:p>
        </p:txBody>
      </p:sp>
      <p:sp>
        <p:nvSpPr>
          <p:cNvPr id="9" name="Text 5"/>
          <p:cNvSpPr/>
          <p:nvPr/>
        </p:nvSpPr>
        <p:spPr>
          <a:xfrm>
            <a:off x="3723680" y="1962690"/>
            <a:ext cx="691158"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1000 (n=50)</a:t>
            </a:r>
            <a:endParaRPr lang="en-US" sz="800" dirty="0"/>
          </a:p>
        </p:txBody>
      </p:sp>
      <p:sp>
        <p:nvSpPr>
          <p:cNvPr id="10" name="Text 6"/>
          <p:cNvSpPr/>
          <p:nvPr/>
        </p:nvSpPr>
        <p:spPr>
          <a:xfrm>
            <a:off x="514350" y="2207363"/>
            <a:ext cx="1200150" cy="13751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Mean of Sample Means</a:t>
            </a:r>
            <a:endParaRPr lang="en-US" sz="800" dirty="0"/>
          </a:p>
        </p:txBody>
      </p:sp>
      <p:sp>
        <p:nvSpPr>
          <p:cNvPr id="11" name="Text 7"/>
          <p:cNvSpPr/>
          <p:nvPr/>
        </p:nvSpPr>
        <p:spPr>
          <a:xfrm>
            <a:off x="3791545" y="2207363"/>
            <a:ext cx="623292"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$13,275.03</a:t>
            </a:r>
            <a:endParaRPr lang="en-US" sz="800" dirty="0"/>
          </a:p>
        </p:txBody>
      </p:sp>
      <p:sp>
        <p:nvSpPr>
          <p:cNvPr id="12" name="Text 8"/>
          <p:cNvSpPr/>
          <p:nvPr/>
        </p:nvSpPr>
        <p:spPr>
          <a:xfrm>
            <a:off x="514350" y="2452036"/>
            <a:ext cx="1085850" cy="13751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Std of Sample Means</a:t>
            </a:r>
            <a:endParaRPr lang="en-US" sz="800" dirty="0"/>
          </a:p>
        </p:txBody>
      </p:sp>
      <p:sp>
        <p:nvSpPr>
          <p:cNvPr id="13" name="Text 9"/>
          <p:cNvSpPr/>
          <p:nvPr/>
        </p:nvSpPr>
        <p:spPr>
          <a:xfrm>
            <a:off x="3882628" y="2452036"/>
            <a:ext cx="532209"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$1,657.57</a:t>
            </a:r>
            <a:endParaRPr lang="en-US" sz="800" dirty="0"/>
          </a:p>
        </p:txBody>
      </p:sp>
      <p:sp>
        <p:nvSpPr>
          <p:cNvPr id="14" name="Text 10"/>
          <p:cNvSpPr/>
          <p:nvPr/>
        </p:nvSpPr>
        <p:spPr>
          <a:xfrm>
            <a:off x="514350" y="2696710"/>
            <a:ext cx="851892" cy="13751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Population Mean</a:t>
            </a:r>
            <a:endParaRPr lang="en-US" sz="800" dirty="0"/>
          </a:p>
        </p:txBody>
      </p:sp>
      <p:sp>
        <p:nvSpPr>
          <p:cNvPr id="15" name="Text 11"/>
          <p:cNvSpPr/>
          <p:nvPr/>
        </p:nvSpPr>
        <p:spPr>
          <a:xfrm>
            <a:off x="3825478" y="2696710"/>
            <a:ext cx="589359"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$13,279.12</a:t>
            </a:r>
            <a:endParaRPr lang="en-US" sz="800" dirty="0"/>
          </a:p>
        </p:txBody>
      </p:sp>
      <p:sp>
        <p:nvSpPr>
          <p:cNvPr id="16" name="Text 12"/>
          <p:cNvSpPr/>
          <p:nvPr/>
        </p:nvSpPr>
        <p:spPr>
          <a:xfrm>
            <a:off x="514350" y="2969958"/>
            <a:ext cx="742950" cy="13751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Standard Error</a:t>
            </a:r>
            <a:endParaRPr lang="en-US" sz="800" dirty="0"/>
          </a:p>
        </p:txBody>
      </p:sp>
      <p:sp>
        <p:nvSpPr>
          <p:cNvPr id="17" name="Text 13"/>
          <p:cNvSpPr/>
          <p:nvPr/>
        </p:nvSpPr>
        <p:spPr>
          <a:xfrm>
            <a:off x="3957638" y="2969958"/>
            <a:ext cx="457200" cy="137517"/>
          </a:xfrm>
          <a:prstGeom prst="rect">
            <a:avLst/>
          </a:prstGeom>
          <a:noFill/>
          <a:ln/>
        </p:spPr>
        <p:txBody>
          <a:bodyPr wrap="none" lIns="0" tIns="0" rIns="0" bIns="0"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$331.20</a:t>
            </a:r>
            <a:endParaRPr lang="en-US" sz="800" dirty="0"/>
          </a:p>
        </p:txBody>
      </p:sp>
      <p:sp>
        <p:nvSpPr>
          <p:cNvPr id="18" name="Text 14"/>
          <p:cNvSpPr/>
          <p:nvPr/>
        </p:nvSpPr>
        <p:spPr>
          <a:xfrm>
            <a:off x="514350" y="3214632"/>
            <a:ext cx="1260872" cy="13751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95% Confidence Interval</a:t>
            </a:r>
            <a:endParaRPr lang="en-US" sz="800" dirty="0"/>
          </a:p>
        </p:txBody>
      </p:sp>
      <p:sp>
        <p:nvSpPr>
          <p:cNvPr id="19" name="Text 15"/>
          <p:cNvSpPr/>
          <p:nvPr/>
        </p:nvSpPr>
        <p:spPr>
          <a:xfrm>
            <a:off x="3032522" y="3214632"/>
            <a:ext cx="1382316" cy="137517"/>
          </a:xfrm>
          <a:prstGeom prst="rect">
            <a:avLst/>
          </a:prstGeom>
          <a:noFill/>
          <a:ln/>
        </p:spPr>
        <p:txBody>
          <a:bodyPr wrap="square" lIns="0" tIns="0" rIns="0" bIns="0"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[$12,629.97, $13,928.27]</a:t>
            </a:r>
            <a:endParaRPr lang="en-US" sz="800" dirty="0"/>
          </a:p>
        </p:txBody>
      </p:sp>
      <p:sp>
        <p:nvSpPr>
          <p:cNvPr id="20" name="Shape 16"/>
          <p:cNvSpPr/>
          <p:nvPr/>
        </p:nvSpPr>
        <p:spPr>
          <a:xfrm>
            <a:off x="4643438" y="1564425"/>
            <a:ext cx="4071938" cy="3328988"/>
          </a:xfrm>
          <a:prstGeom prst="rect">
            <a:avLst/>
          </a:prstGeom>
          <a:solidFill>
            <a:srgbClr val="112240"/>
          </a:solidFill>
          <a:ln w="9144">
            <a:solidFill>
              <a:srgbClr val="172A45"/>
            </a:solidFill>
            <a:prstDash val="solid"/>
          </a:ln>
        </p:spPr>
      </p:sp>
      <p:sp>
        <p:nvSpPr>
          <p:cNvPr id="21" name="Text 17"/>
          <p:cNvSpPr/>
          <p:nvPr/>
        </p:nvSpPr>
        <p:spPr>
          <a:xfrm>
            <a:off x="4729163" y="1650150"/>
            <a:ext cx="3900488" cy="226814"/>
          </a:xfrm>
          <a:prstGeom prst="rect">
            <a:avLst/>
          </a:prstGeom>
          <a:noFill/>
          <a:ln/>
        </p:spPr>
        <p:txBody>
          <a:bodyPr wrap="square" lIns="0" tIns="0" rIns="0" bIns="68072" rtlCol="0" anchor="t">
            <a:spAutoFit/>
          </a:bodyPr>
          <a:lstStyle/>
          <a:p>
            <a:pPr algn="l" indent="0" marL="0">
              <a:buNone/>
            </a:pPr>
            <a:r>
              <a:rPr lang="en-US" sz="900" b="1" dirty="0">
                <a:solidFill>
                  <a:srgbClr val="64FFDA"/>
                </a:solidFill>
                <a:latin typeface="Inter Bold" pitchFamily="34" charset="0"/>
                <a:ea typeface="Inter Bold" pitchFamily="34" charset="-122"/>
                <a:cs typeface="Inter Bold" pitchFamily="34" charset="-120"/>
              </a:rPr>
              <a:t>T-TEST &amp; INFERENCE ERRORS</a:t>
            </a:r>
            <a:endParaRPr lang="en-US" sz="900" dirty="0"/>
          </a:p>
        </p:txBody>
      </p:sp>
      <p:sp>
        <p:nvSpPr>
          <p:cNvPr id="22" name="Text 18"/>
          <p:cNvSpPr/>
          <p:nvPr/>
        </p:nvSpPr>
        <p:spPr>
          <a:xfrm>
            <a:off x="4729163" y="1962690"/>
            <a:ext cx="480417" cy="13751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t-statistic</a:t>
            </a:r>
            <a:endParaRPr lang="en-US" sz="800" dirty="0"/>
          </a:p>
        </p:txBody>
      </p:sp>
      <p:sp>
        <p:nvSpPr>
          <p:cNvPr id="23" name="Text 19"/>
          <p:cNvSpPr/>
          <p:nvPr/>
        </p:nvSpPr>
        <p:spPr>
          <a:xfrm>
            <a:off x="8143875" y="1962690"/>
            <a:ext cx="485775"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46.6448</a:t>
            </a:r>
            <a:endParaRPr lang="en-US" sz="800" dirty="0"/>
          </a:p>
        </p:txBody>
      </p:sp>
      <p:sp>
        <p:nvSpPr>
          <p:cNvPr id="24" name="Text 20"/>
          <p:cNvSpPr/>
          <p:nvPr/>
        </p:nvSpPr>
        <p:spPr>
          <a:xfrm>
            <a:off x="4729163" y="2207363"/>
            <a:ext cx="389334" cy="13751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p-value</a:t>
            </a:r>
            <a:endParaRPr lang="en-US" sz="800" dirty="0"/>
          </a:p>
        </p:txBody>
      </p:sp>
      <p:sp>
        <p:nvSpPr>
          <p:cNvPr id="25" name="Text 21"/>
          <p:cNvSpPr/>
          <p:nvPr/>
        </p:nvSpPr>
        <p:spPr>
          <a:xfrm>
            <a:off x="8081367" y="2207363"/>
            <a:ext cx="548283"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1.41e-282</a:t>
            </a:r>
            <a:endParaRPr lang="en-US" sz="800" dirty="0"/>
          </a:p>
        </p:txBody>
      </p:sp>
      <p:sp>
        <p:nvSpPr>
          <p:cNvPr id="26" name="Text 22"/>
          <p:cNvSpPr/>
          <p:nvPr/>
        </p:nvSpPr>
        <p:spPr>
          <a:xfrm>
            <a:off x="4729163" y="2480611"/>
            <a:ext cx="773311" cy="13751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Type I Error (α)</a:t>
            </a:r>
            <a:endParaRPr lang="en-US" sz="800" dirty="0"/>
          </a:p>
        </p:txBody>
      </p:sp>
      <p:sp>
        <p:nvSpPr>
          <p:cNvPr id="27" name="Text 23"/>
          <p:cNvSpPr/>
          <p:nvPr/>
        </p:nvSpPr>
        <p:spPr>
          <a:xfrm>
            <a:off x="8374261" y="2480611"/>
            <a:ext cx="255389"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0.05</a:t>
            </a:r>
            <a:endParaRPr lang="en-US" sz="800" dirty="0"/>
          </a:p>
        </p:txBody>
      </p:sp>
      <p:sp>
        <p:nvSpPr>
          <p:cNvPr id="28" name="Text 24"/>
          <p:cNvSpPr/>
          <p:nvPr/>
        </p:nvSpPr>
        <p:spPr>
          <a:xfrm>
            <a:off x="4729163" y="2725285"/>
            <a:ext cx="794742" cy="13751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Type II Error (β)</a:t>
            </a:r>
            <a:endParaRPr lang="en-US" sz="800" dirty="0"/>
          </a:p>
        </p:txBody>
      </p:sp>
      <p:sp>
        <p:nvSpPr>
          <p:cNvPr id="29" name="Text 25"/>
          <p:cNvSpPr/>
          <p:nvPr/>
        </p:nvSpPr>
        <p:spPr>
          <a:xfrm>
            <a:off x="8370689" y="2725285"/>
            <a:ext cx="258961"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0.20</a:t>
            </a:r>
            <a:endParaRPr lang="en-US" sz="800" dirty="0"/>
          </a:p>
        </p:txBody>
      </p:sp>
      <p:sp>
        <p:nvSpPr>
          <p:cNvPr id="30" name="Text 26"/>
          <p:cNvSpPr/>
          <p:nvPr/>
        </p:nvSpPr>
        <p:spPr>
          <a:xfrm>
            <a:off x="4729163" y="2969958"/>
            <a:ext cx="700088" cy="13751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Power of Test</a:t>
            </a:r>
            <a:endParaRPr lang="en-US" sz="800" dirty="0"/>
          </a:p>
        </p:txBody>
      </p:sp>
      <p:sp>
        <p:nvSpPr>
          <p:cNvPr id="31" name="Text 27"/>
          <p:cNvSpPr/>
          <p:nvPr/>
        </p:nvSpPr>
        <p:spPr>
          <a:xfrm>
            <a:off x="8370689" y="2969958"/>
            <a:ext cx="258961" cy="137517"/>
          </a:xfrm>
          <a:prstGeom prst="rect">
            <a:avLst/>
          </a:prstGeom>
          <a:noFill/>
          <a:ln/>
        </p:spPr>
        <p:txBody>
          <a:bodyPr wrap="none" lIns="0" tIns="0" rIns="0" bIns="0"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0.80</a:t>
            </a:r>
            <a:endParaRPr lang="en-US" sz="800" dirty="0"/>
          </a:p>
        </p:txBody>
      </p:sp>
      <p:sp>
        <p:nvSpPr>
          <p:cNvPr id="32" name="Shape 28"/>
          <p:cNvSpPr/>
          <p:nvPr/>
        </p:nvSpPr>
        <p:spPr>
          <a:xfrm>
            <a:off x="4729163" y="3243207"/>
            <a:ext cx="3900488" cy="1025128"/>
          </a:xfrm>
          <a:prstGeom prst="rect">
            <a:avLst/>
          </a:prstGeom>
          <a:solidFill>
            <a:srgbClr val="172A45"/>
          </a:solidFill>
          <a:ln w="9144">
            <a:solidFill>
              <a:srgbClr val="64FFDA"/>
            </a:solidFill>
            <a:prstDash val="solid"/>
          </a:ln>
        </p:spPr>
      </p:sp>
      <p:sp>
        <p:nvSpPr>
          <p:cNvPr id="33" name="Text 29"/>
          <p:cNvSpPr/>
          <p:nvPr/>
        </p:nvSpPr>
        <p:spPr>
          <a:xfrm>
            <a:off x="4814888" y="3428944"/>
            <a:ext cx="3729038" cy="121444"/>
          </a:xfrm>
          <a:prstGeom prst="rect">
            <a:avLst/>
          </a:prstGeom>
          <a:noFill/>
          <a:ln/>
        </p:spPr>
        <p:txBody>
          <a:bodyPr wrap="square" lIns="0" tIns="0" rIns="0" bIns="0" rtlCol="0" anchor="t">
            <a:spAutoFit/>
          </a:bodyPr>
          <a:lstStyle/>
          <a:p>
            <a:pPr algn="l" indent="0" marL="0">
              <a:buNone/>
            </a:pPr>
            <a:r>
              <a:rPr lang="en-US" sz="700" b="1" dirty="0">
                <a:solidFill>
                  <a:srgbClr val="64FFDA"/>
                </a:solidFill>
                <a:latin typeface="Inter Black" pitchFamily="34" charset="0"/>
                <a:ea typeface="Inter Black" pitchFamily="34" charset="-122"/>
                <a:cs typeface="Inter Black" pitchFamily="34" charset="-120"/>
              </a:rPr>
              <a:t>STATISTICAL DECISION</a:t>
            </a:r>
            <a:endParaRPr lang="en-US" sz="700" dirty="0"/>
          </a:p>
        </p:txBody>
      </p:sp>
      <p:sp>
        <p:nvSpPr>
          <p:cNvPr id="34" name="Text 30"/>
          <p:cNvSpPr/>
          <p:nvPr/>
        </p:nvSpPr>
        <p:spPr>
          <a:xfrm>
            <a:off x="4814888" y="3678975"/>
            <a:ext cx="3729038" cy="155377"/>
          </a:xfrm>
          <a:prstGeom prst="rect">
            <a:avLst/>
          </a:prstGeom>
          <a:noFill/>
          <a:ln/>
        </p:spPr>
        <p:txBody>
          <a:bodyPr wrap="square" lIns="0" tIns="0" rIns="0" bIns="0" rtlCol="0" anchor="t">
            <a:spAutoFit/>
          </a:bodyPr>
          <a:lstStyle/>
          <a:p>
            <a:pPr algn="l" indent="0" marL="0">
              <a:buNone/>
            </a:pPr>
            <a:r>
              <a:rPr lang="en-US" sz="900" b="1" dirty="0">
                <a:solidFill>
                  <a:srgbClr val="FFFFFF"/>
                </a:solidFill>
                <a:latin typeface="Inter Bold" pitchFamily="34" charset="0"/>
                <a:ea typeface="Inter Bold" pitchFamily="34" charset="-122"/>
                <a:cs typeface="Inter Bold" pitchFamily="34" charset="-120"/>
              </a:rPr>
              <a:t>Reject Null Hypothesis (H₀)</a:t>
            </a:r>
            <a:endParaRPr lang="en-US" sz="900" dirty="0"/>
          </a:p>
        </p:txBody>
      </p:sp>
      <p:sp>
        <p:nvSpPr>
          <p:cNvPr id="35" name="Text 31"/>
          <p:cNvSpPr/>
          <p:nvPr/>
        </p:nvSpPr>
        <p:spPr>
          <a:xfrm>
            <a:off x="4814888" y="3962940"/>
            <a:ext cx="3729038" cy="112514"/>
          </a:xfrm>
          <a:prstGeom prst="rect">
            <a:avLst/>
          </a:prstGeom>
          <a:noFill/>
          <a:ln/>
        </p:spPr>
        <p:txBody>
          <a:bodyPr wrap="square" lIns="0" tIns="0" rIns="0" bIns="0" rtlCol="0" anchor="t">
            <a:spAutoFit/>
          </a:bodyPr>
          <a:lstStyle/>
          <a:p>
            <a:pPr algn="l" indent="0" marL="0">
              <a:buNone/>
            </a:pPr>
            <a:r>
              <a:rPr lang="en-US" sz="650" dirty="0">
                <a:solidFill>
                  <a:srgbClr val="CCD6F6"/>
                </a:solidFill>
                <a:latin typeface="Inter" pitchFamily="34" charset="0"/>
                <a:ea typeface="Inter" pitchFamily="34" charset="-122"/>
                <a:cs typeface="Inter" pitchFamily="34" charset="-120"/>
              </a:rPr>
              <a:t>Smoking status has a highly significant impact on medical charges.</a:t>
            </a:r>
            <a:endParaRPr lang="en-US" sz="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293463"/>
          </a:xfrm>
          <a:prstGeom prst="rect">
            <a:avLst/>
          </a:prstGeom>
        </p:spPr>
      </p:pic>
      <p:sp>
        <p:nvSpPr>
          <p:cNvPr id="4" name="Text 0"/>
          <p:cNvSpPr/>
          <p:nvPr/>
        </p:nvSpPr>
        <p:spPr>
          <a:xfrm>
            <a:off x="428625" y="515466"/>
            <a:ext cx="8715375" cy="414338"/>
          </a:xfrm>
          <a:prstGeom prst="rect">
            <a:avLst/>
          </a:prstGeom>
          <a:noFill/>
          <a:ln/>
        </p:spPr>
        <p:txBody>
          <a:bodyPr wrap="square" lIns="0" tIns="0" rIns="0" bIns="0" rtlCol="0" anchor="t">
            <a:spAutoFit/>
          </a:bodyPr>
          <a:lstStyle/>
          <a:p>
            <a:pPr algn="l" indent="0" marL="0">
              <a:buNone/>
            </a:pPr>
            <a:r>
              <a:rPr lang="en-US" sz="2450" b="1" dirty="0">
                <a:solidFill>
                  <a:srgbClr val="64FFDA"/>
                </a:solidFill>
                <a:latin typeface="Inter Black" pitchFamily="34" charset="0"/>
                <a:ea typeface="Inter Black" pitchFamily="34" charset="-122"/>
                <a:cs typeface="Inter Black" pitchFamily="34" charset="-120"/>
              </a:rPr>
              <a:t>CO5: CORRELATION &amp; REGRESSION</a:t>
            </a:r>
            <a:endParaRPr lang="en-US" sz="2450" dirty="0"/>
          </a:p>
        </p:txBody>
      </p:sp>
      <p:sp>
        <p:nvSpPr>
          <p:cNvPr id="5" name="Text 1"/>
          <p:cNvSpPr/>
          <p:nvPr/>
        </p:nvSpPr>
        <p:spPr>
          <a:xfrm>
            <a:off x="428625" y="1072093"/>
            <a:ext cx="8715375" cy="207169"/>
          </a:xfrm>
          <a:prstGeom prst="rect">
            <a:avLst/>
          </a:prstGeom>
          <a:noFill/>
          <a:ln/>
        </p:spPr>
        <p:txBody>
          <a:bodyPr wrap="square" lIns="0" tIns="0" rIns="0" bIns="0" rtlCol="0" anchor="t">
            <a:spAutoFit/>
          </a:bodyPr>
          <a:lstStyle/>
          <a:p>
            <a:pPr algn="l" indent="0" marL="0">
              <a:buNone/>
            </a:pPr>
            <a:r>
              <a:rPr lang="en-US" sz="1200" b="1" dirty="0">
                <a:solidFill>
                  <a:srgbClr val="8892B0"/>
                </a:solidFill>
                <a:latin typeface="Inter Bold" pitchFamily="34" charset="0"/>
                <a:ea typeface="Inter Bold" pitchFamily="34" charset="-122"/>
                <a:cs typeface="Inter Bold" pitchFamily="34" charset="-120"/>
              </a:rPr>
              <a:t>Quantifying Relationships with Charges</a:t>
            </a:r>
            <a:endParaRPr lang="en-US" sz="1200" dirty="0"/>
          </a:p>
        </p:txBody>
      </p:sp>
      <p:sp>
        <p:nvSpPr>
          <p:cNvPr id="6" name="Shape 2"/>
          <p:cNvSpPr/>
          <p:nvPr/>
        </p:nvSpPr>
        <p:spPr>
          <a:xfrm>
            <a:off x="428625" y="1564425"/>
            <a:ext cx="3669264" cy="3729038"/>
          </a:xfrm>
          <a:prstGeom prst="rect">
            <a:avLst/>
          </a:prstGeom>
          <a:solidFill>
            <a:srgbClr val="112240"/>
          </a:solidFill>
          <a:ln w="9144">
            <a:solidFill>
              <a:srgbClr val="172A45"/>
            </a:solidFill>
            <a:prstDash val="solid"/>
          </a:ln>
        </p:spPr>
      </p:sp>
      <p:sp>
        <p:nvSpPr>
          <p:cNvPr id="7" name="Text 3"/>
          <p:cNvSpPr/>
          <p:nvPr/>
        </p:nvSpPr>
        <p:spPr>
          <a:xfrm>
            <a:off x="571500" y="1707300"/>
            <a:ext cx="3383514" cy="208955"/>
          </a:xfrm>
          <a:prstGeom prst="rect">
            <a:avLst/>
          </a:prstGeom>
          <a:noFill/>
          <a:ln/>
        </p:spPr>
        <p:txBody>
          <a:bodyPr wrap="square" lIns="0" tIns="0" rIns="0" bIns="68072"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PEARSON CORRELATION (R)</a:t>
            </a:r>
            <a:endParaRPr lang="en-US" sz="800" dirty="0"/>
          </a:p>
        </p:txBody>
      </p:sp>
      <p:sp>
        <p:nvSpPr>
          <p:cNvPr id="8" name="Text 4"/>
          <p:cNvSpPr/>
          <p:nvPr/>
        </p:nvSpPr>
        <p:spPr>
          <a:xfrm>
            <a:off x="571500" y="2023411"/>
            <a:ext cx="741164" cy="14644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Smoker Status</a:t>
            </a:r>
            <a:endParaRPr lang="en-US" sz="800" dirty="0"/>
          </a:p>
        </p:txBody>
      </p:sp>
      <p:sp>
        <p:nvSpPr>
          <p:cNvPr id="9" name="Text 5"/>
          <p:cNvSpPr/>
          <p:nvPr/>
        </p:nvSpPr>
        <p:spPr>
          <a:xfrm>
            <a:off x="3460310" y="2023411"/>
            <a:ext cx="494705" cy="146447"/>
          </a:xfrm>
          <a:prstGeom prst="rect">
            <a:avLst/>
          </a:prstGeom>
          <a:noFill/>
          <a:ln/>
        </p:spPr>
        <p:txBody>
          <a:bodyPr wrap="none" lIns="0" tIns="0" rIns="0" bIns="0" rtlCol="0" anchor="t">
            <a:spAutoFit/>
          </a:bodyPr>
          <a:lstStyle/>
          <a:p>
            <a:pPr algn="l" indent="0" marL="0">
              <a:buNone/>
            </a:pPr>
            <a:r>
              <a:rPr lang="en-US" sz="850" b="1" dirty="0">
                <a:solidFill>
                  <a:srgbClr val="64FFDA"/>
                </a:solidFill>
                <a:latin typeface="Inter Bold" pitchFamily="34" charset="0"/>
                <a:ea typeface="Inter Bold" pitchFamily="34" charset="-122"/>
                <a:cs typeface="Inter Bold" pitchFamily="34" charset="-120"/>
              </a:rPr>
              <a:t>+0.7872</a:t>
            </a:r>
            <a:endParaRPr lang="en-US" sz="850" dirty="0"/>
          </a:p>
        </p:txBody>
      </p:sp>
      <p:sp>
        <p:nvSpPr>
          <p:cNvPr id="10" name="Text 6"/>
          <p:cNvSpPr/>
          <p:nvPr/>
        </p:nvSpPr>
        <p:spPr>
          <a:xfrm>
            <a:off x="571500" y="2291302"/>
            <a:ext cx="201811" cy="14644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Age</a:t>
            </a:r>
            <a:endParaRPr lang="en-US" sz="800" dirty="0"/>
          </a:p>
        </p:txBody>
      </p:sp>
      <p:sp>
        <p:nvSpPr>
          <p:cNvPr id="11" name="Text 7"/>
          <p:cNvSpPr/>
          <p:nvPr/>
        </p:nvSpPr>
        <p:spPr>
          <a:xfrm>
            <a:off x="3437093" y="2291302"/>
            <a:ext cx="517922" cy="146447"/>
          </a:xfrm>
          <a:prstGeom prst="rect">
            <a:avLst/>
          </a:prstGeom>
          <a:noFill/>
          <a:ln/>
        </p:spPr>
        <p:txBody>
          <a:bodyPr wrap="none" lIns="0" tIns="0" rIns="0" bIns="0" rtlCol="0" anchor="t">
            <a:spAutoFit/>
          </a:bodyPr>
          <a:lstStyle/>
          <a:p>
            <a:pPr algn="l" indent="0" marL="0">
              <a:buNone/>
            </a:pPr>
            <a:r>
              <a:rPr lang="en-US" sz="850" b="1" dirty="0">
                <a:solidFill>
                  <a:srgbClr val="CCD6F6"/>
                </a:solidFill>
                <a:latin typeface="Inter Bold" pitchFamily="34" charset="0"/>
                <a:ea typeface="Inter Bold" pitchFamily="34" charset="-122"/>
                <a:cs typeface="Inter Bold" pitchFamily="34" charset="-120"/>
              </a:rPr>
              <a:t>+0.2990</a:t>
            </a:r>
            <a:endParaRPr lang="en-US" sz="850" dirty="0"/>
          </a:p>
        </p:txBody>
      </p:sp>
      <p:sp>
        <p:nvSpPr>
          <p:cNvPr id="12" name="Text 8"/>
          <p:cNvSpPr/>
          <p:nvPr/>
        </p:nvSpPr>
        <p:spPr>
          <a:xfrm>
            <a:off x="571500" y="2559193"/>
            <a:ext cx="194667" cy="14644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BMI</a:t>
            </a:r>
            <a:endParaRPr lang="en-US" sz="800" dirty="0"/>
          </a:p>
        </p:txBody>
      </p:sp>
      <p:sp>
        <p:nvSpPr>
          <p:cNvPr id="13" name="Text 9"/>
          <p:cNvSpPr/>
          <p:nvPr/>
        </p:nvSpPr>
        <p:spPr>
          <a:xfrm>
            <a:off x="3476383" y="2559193"/>
            <a:ext cx="478631" cy="146447"/>
          </a:xfrm>
          <a:prstGeom prst="rect">
            <a:avLst/>
          </a:prstGeom>
          <a:noFill/>
          <a:ln/>
        </p:spPr>
        <p:txBody>
          <a:bodyPr wrap="none" lIns="0" tIns="0" rIns="0" bIns="0" rtlCol="0" anchor="t">
            <a:spAutoFit/>
          </a:bodyPr>
          <a:lstStyle/>
          <a:p>
            <a:pPr algn="l" indent="0" marL="0">
              <a:buNone/>
            </a:pPr>
            <a:r>
              <a:rPr lang="en-US" sz="850" b="1" dirty="0">
                <a:solidFill>
                  <a:srgbClr val="CCD6F6"/>
                </a:solidFill>
                <a:latin typeface="Inter Bold" pitchFamily="34" charset="0"/>
                <a:ea typeface="Inter Bold" pitchFamily="34" charset="-122"/>
                <a:cs typeface="Inter Bold" pitchFamily="34" charset="-120"/>
              </a:rPr>
              <a:t>+0.1983</a:t>
            </a:r>
            <a:endParaRPr lang="en-US" sz="850" dirty="0"/>
          </a:p>
        </p:txBody>
      </p:sp>
      <p:sp>
        <p:nvSpPr>
          <p:cNvPr id="14" name="Text 10"/>
          <p:cNvSpPr/>
          <p:nvPr/>
        </p:nvSpPr>
        <p:spPr>
          <a:xfrm>
            <a:off x="571500" y="2827083"/>
            <a:ext cx="425053" cy="14644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Children</a:t>
            </a:r>
            <a:endParaRPr lang="en-US" sz="800" dirty="0"/>
          </a:p>
        </p:txBody>
      </p:sp>
      <p:sp>
        <p:nvSpPr>
          <p:cNvPr id="15" name="Text 11"/>
          <p:cNvSpPr/>
          <p:nvPr/>
        </p:nvSpPr>
        <p:spPr>
          <a:xfrm>
            <a:off x="3435307" y="2827083"/>
            <a:ext cx="519708" cy="146447"/>
          </a:xfrm>
          <a:prstGeom prst="rect">
            <a:avLst/>
          </a:prstGeom>
          <a:noFill/>
          <a:ln/>
        </p:spPr>
        <p:txBody>
          <a:bodyPr wrap="none" lIns="0" tIns="0" rIns="0" bIns="0" rtlCol="0" anchor="t">
            <a:spAutoFit/>
          </a:bodyPr>
          <a:lstStyle/>
          <a:p>
            <a:pPr algn="l" indent="0" marL="0">
              <a:buNone/>
            </a:pPr>
            <a:r>
              <a:rPr lang="en-US" sz="850" b="1" dirty="0">
                <a:solidFill>
                  <a:srgbClr val="CCD6F6"/>
                </a:solidFill>
                <a:latin typeface="Inter Bold" pitchFamily="34" charset="0"/>
                <a:ea typeface="Inter Bold" pitchFamily="34" charset="-122"/>
                <a:cs typeface="Inter Bold" pitchFamily="34" charset="-120"/>
              </a:rPr>
              <a:t>+0.0680</a:t>
            </a:r>
            <a:endParaRPr lang="en-US" sz="850" dirty="0"/>
          </a:p>
        </p:txBody>
      </p:sp>
      <p:sp>
        <p:nvSpPr>
          <p:cNvPr id="16" name="Text 12"/>
          <p:cNvSpPr/>
          <p:nvPr/>
        </p:nvSpPr>
        <p:spPr>
          <a:xfrm>
            <a:off x="571500" y="3237849"/>
            <a:ext cx="3383514" cy="208955"/>
          </a:xfrm>
          <a:prstGeom prst="rect">
            <a:avLst/>
          </a:prstGeom>
          <a:noFill/>
          <a:ln/>
        </p:spPr>
        <p:txBody>
          <a:bodyPr wrap="square" lIns="0" tIns="0" rIns="0" bIns="68072"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SIMPLE LINEAR REGRESSION</a:t>
            </a:r>
            <a:endParaRPr lang="en-US" sz="800" dirty="0"/>
          </a:p>
        </p:txBody>
      </p:sp>
      <p:sp>
        <p:nvSpPr>
          <p:cNvPr id="17" name="Text 13"/>
          <p:cNvSpPr/>
          <p:nvPr/>
        </p:nvSpPr>
        <p:spPr>
          <a:xfrm>
            <a:off x="571500" y="3553960"/>
            <a:ext cx="3383514" cy="121444"/>
          </a:xfrm>
          <a:prstGeom prst="rect">
            <a:avLst/>
          </a:prstGeom>
          <a:noFill/>
          <a:ln/>
        </p:spPr>
        <p:txBody>
          <a:bodyPr wrap="square" lIns="0" tIns="0" rIns="0" bIns="0" rtlCol="0" anchor="t">
            <a:spAutoFit/>
          </a:bodyPr>
          <a:lstStyle/>
          <a:p>
            <a:pPr algn="l" indent="0" marL="0">
              <a:buNone/>
            </a:pPr>
            <a:r>
              <a:rPr lang="en-US" sz="750" dirty="0">
                <a:solidFill>
                  <a:srgbClr val="8892B0"/>
                </a:solidFill>
                <a:latin typeface="Inter" pitchFamily="34" charset="0"/>
                <a:ea typeface="Inter" pitchFamily="34" charset="-122"/>
                <a:cs typeface="Inter" pitchFamily="34" charset="-120"/>
              </a:rPr>
              <a:t>Model: Age vs Charges</a:t>
            </a:r>
            <a:endParaRPr lang="en-US" sz="750" dirty="0"/>
          </a:p>
        </p:txBody>
      </p:sp>
      <p:sp>
        <p:nvSpPr>
          <p:cNvPr id="18" name="Shape 14"/>
          <p:cNvSpPr/>
          <p:nvPr/>
        </p:nvSpPr>
        <p:spPr>
          <a:xfrm>
            <a:off x="571500" y="3818279"/>
            <a:ext cx="3383514" cy="396478"/>
          </a:xfrm>
          <a:prstGeom prst="rect">
            <a:avLst/>
          </a:prstGeom>
          <a:solidFill>
            <a:srgbClr val="0A192F"/>
          </a:solidFill>
          <a:ln w="9144">
            <a:solidFill>
              <a:srgbClr val="64FFDA"/>
            </a:solidFill>
            <a:prstDash val="solid"/>
          </a:ln>
        </p:spPr>
      </p:sp>
      <p:sp>
        <p:nvSpPr>
          <p:cNvPr id="19" name="Text 15"/>
          <p:cNvSpPr/>
          <p:nvPr/>
        </p:nvSpPr>
        <p:spPr>
          <a:xfrm>
            <a:off x="571500" y="3818279"/>
            <a:ext cx="3383514" cy="396478"/>
          </a:xfrm>
          <a:prstGeom prst="rect">
            <a:avLst/>
          </a:prstGeom>
          <a:noFill/>
          <a:ln/>
        </p:spPr>
        <p:txBody>
          <a:bodyPr wrap="square" lIns="127508" tIns="127508" rIns="127508" bIns="127508" rtlCol="0" anchor="t">
            <a:spAutoFit/>
          </a:bodyPr>
          <a:lstStyle/>
          <a:p>
            <a:pPr algn="ctr" indent="0" marL="0">
              <a:buNone/>
            </a:pPr>
            <a:r>
              <a:rPr lang="en-US" sz="950" dirty="0">
                <a:solidFill>
                  <a:srgbClr val="64FFDA"/>
                </a:solidFill>
                <a:latin typeface="Fira Code" pitchFamily="34" charset="0"/>
                <a:ea typeface="Fira Code" pitchFamily="34" charset="-122"/>
                <a:cs typeface="Fira Code" pitchFamily="34" charset="-120"/>
              </a:rPr>
              <a:t>Charges = 257.72(Age) + 3165.89</a:t>
            </a:r>
            <a:endParaRPr lang="en-US" sz="850" dirty="0"/>
          </a:p>
        </p:txBody>
      </p:sp>
      <p:sp>
        <p:nvSpPr>
          <p:cNvPr id="20" name="Text 16"/>
          <p:cNvSpPr/>
          <p:nvPr/>
        </p:nvSpPr>
        <p:spPr>
          <a:xfrm>
            <a:off x="571500" y="4343344"/>
            <a:ext cx="444698" cy="146447"/>
          </a:xfrm>
          <a:prstGeom prst="rect">
            <a:avLst/>
          </a:prstGeom>
          <a:noFill/>
          <a:ln/>
        </p:spPr>
        <p:txBody>
          <a:bodyPr wrap="none" lIns="0" tIns="0" rIns="0" bIns="0" rtlCol="0" anchor="t">
            <a:spAutoFit/>
          </a:bodyPr>
          <a:lstStyle/>
          <a:p>
            <a:pPr algn="l" indent="0" marL="0">
              <a:buNone/>
            </a:pPr>
            <a:r>
              <a:rPr lang="en-US" sz="800" dirty="0">
                <a:solidFill>
                  <a:srgbClr val="8892B0"/>
                </a:solidFill>
                <a:latin typeface="Inter" pitchFamily="34" charset="0"/>
                <a:ea typeface="Inter" pitchFamily="34" charset="-122"/>
                <a:cs typeface="Inter" pitchFamily="34" charset="-120"/>
              </a:rPr>
              <a:t>R² Score</a:t>
            </a:r>
            <a:endParaRPr lang="en-US" sz="800" dirty="0"/>
          </a:p>
        </p:txBody>
      </p:sp>
      <p:sp>
        <p:nvSpPr>
          <p:cNvPr id="21" name="Text 17"/>
          <p:cNvSpPr/>
          <p:nvPr/>
        </p:nvSpPr>
        <p:spPr>
          <a:xfrm>
            <a:off x="3517460" y="4343344"/>
            <a:ext cx="437555" cy="146447"/>
          </a:xfrm>
          <a:prstGeom prst="rect">
            <a:avLst/>
          </a:prstGeom>
          <a:noFill/>
          <a:ln/>
        </p:spPr>
        <p:txBody>
          <a:bodyPr wrap="none" lIns="0" tIns="0" rIns="0" bIns="0" rtlCol="0" anchor="t">
            <a:spAutoFit/>
          </a:bodyPr>
          <a:lstStyle/>
          <a:p>
            <a:pPr algn="l" indent="0" marL="0">
              <a:buNone/>
            </a:pPr>
            <a:r>
              <a:rPr lang="en-US" sz="850" b="1" dirty="0">
                <a:solidFill>
                  <a:srgbClr val="64FFDA"/>
                </a:solidFill>
                <a:latin typeface="Inter Bold" pitchFamily="34" charset="0"/>
                <a:ea typeface="Inter Bold" pitchFamily="34" charset="-122"/>
                <a:cs typeface="Inter Bold" pitchFamily="34" charset="-120"/>
              </a:rPr>
              <a:t>0.0894</a:t>
            </a:r>
            <a:endParaRPr lang="en-US" sz="850" dirty="0"/>
          </a:p>
        </p:txBody>
      </p:sp>
      <p:sp>
        <p:nvSpPr>
          <p:cNvPr id="22" name="Text 18"/>
          <p:cNvSpPr/>
          <p:nvPr/>
        </p:nvSpPr>
        <p:spPr>
          <a:xfrm>
            <a:off x="571500" y="4646954"/>
            <a:ext cx="3383514" cy="300038"/>
          </a:xfrm>
          <a:prstGeom prst="rect">
            <a:avLst/>
          </a:prstGeom>
          <a:noFill/>
          <a:ln/>
        </p:spPr>
        <p:txBody>
          <a:bodyPr wrap="square" lIns="0" tIns="0" rIns="0" bIns="0" rtlCol="0" anchor="t">
            <a:spAutoFit/>
          </a:bodyPr>
          <a:lstStyle/>
          <a:p>
            <a:pPr algn="l" indent="0" marL="0">
              <a:lnSpc>
                <a:spcPct val="120000"/>
              </a:lnSpc>
              <a:buNone/>
            </a:pPr>
            <a:r>
              <a:rPr lang="en-US" sz="750" dirty="0">
                <a:solidFill>
                  <a:srgbClr val="64FFDA"/>
                </a:solidFill>
                <a:latin typeface="Inter" pitchFamily="34" charset="0"/>
                <a:ea typeface="Inter" pitchFamily="34" charset="-122"/>
                <a:cs typeface="Inter" pitchFamily="34" charset="-120"/>
              </a:rPr>
              <a:t>Conclusion:</a:t>
            </a:r>
            <a:r>
              <a:rPr lang="en-US" sz="750" dirty="0">
                <a:solidFill>
                  <a:srgbClr val="CCD6F6"/>
                </a:solidFill>
                <a:latin typeface="Inter" pitchFamily="34" charset="0"/>
                <a:ea typeface="Inter" pitchFamily="34" charset="-122"/>
                <a:cs typeface="Inter" pitchFamily="34" charset="-120"/>
              </a:rPr>
              <a:t> Smoking status is the dominant predictor. Age alone </a:t>
            </a:r>
            <a:r>
              <a:rPr lang="en-US" sz="750" dirty="0">
                <a:solidFill>
                  <a:srgbClr val="CCD6F6"/>
                </a:solidFill>
                <a:latin typeface="Inter" pitchFamily="34" charset="0"/>
                <a:ea typeface="Inter" pitchFamily="34" charset="-122"/>
                <a:cs typeface="Inter" pitchFamily="34" charset="-120"/>
              </a:rPr>
              <a:t>explains only 8.9% of cost variance.</a:t>
            </a:r>
            <a:endParaRPr lang="en-US" sz="750" dirty="0"/>
          </a:p>
        </p:txBody>
      </p:sp>
      <p:sp>
        <p:nvSpPr>
          <p:cNvPr id="23" name="Shape 19"/>
          <p:cNvSpPr/>
          <p:nvPr/>
        </p:nvSpPr>
        <p:spPr>
          <a:xfrm>
            <a:off x="4312202" y="1564425"/>
            <a:ext cx="4403173" cy="3014663"/>
          </a:xfrm>
          <a:prstGeom prst="rect">
            <a:avLst/>
          </a:prstGeom>
          <a:solidFill>
            <a:srgbClr val="112240"/>
          </a:solidFill>
          <a:ln w="9144">
            <a:solidFill>
              <a:srgbClr val="172A45"/>
            </a:solidFill>
            <a:prstDash val="solid"/>
          </a:ln>
        </p:spPr>
      </p:sp>
      <p:pic>
        <p:nvPicPr>
          <p:cNvPr id="24" name="Image 1" descr="preencoded.png">    </p:cNvPr>
          <p:cNvPicPr>
            <a:picLocks noChangeAspect="1"/>
          </p:cNvPicPr>
          <p:nvPr/>
        </p:nvPicPr>
        <p:blipFill>
          <a:blip r:embed="rId2"/>
          <a:stretch>
            <a:fillRect/>
          </a:stretch>
        </p:blipFill>
        <p:spPr>
          <a:xfrm>
            <a:off x="4455077" y="1707300"/>
            <a:ext cx="4102298" cy="2714625"/>
          </a:xfrm>
          <a:prstGeom prst="rect">
            <a:avLst/>
          </a:prstGeom>
        </p:spPr>
      </p:pic>
      <p:sp>
        <p:nvSpPr>
          <p:cNvPr id="25" name="Text 20"/>
          <p:cNvSpPr/>
          <p:nvPr/>
        </p:nvSpPr>
        <p:spPr>
          <a:xfrm>
            <a:off x="4312202" y="4636238"/>
            <a:ext cx="4403173" cy="112514"/>
          </a:xfrm>
          <a:prstGeom prst="rect">
            <a:avLst/>
          </a:prstGeom>
          <a:noFill/>
          <a:ln/>
        </p:spPr>
        <p:txBody>
          <a:bodyPr wrap="square" lIns="0" tIns="0" rIns="0" bIns="0" rtlCol="0" anchor="t">
            <a:spAutoFit/>
          </a:bodyPr>
          <a:lstStyle/>
          <a:p>
            <a:pPr algn="ctr" indent="0" marL="0">
              <a:buNone/>
            </a:pPr>
            <a:r>
              <a:rPr lang="en-US" sz="650" dirty="0">
                <a:solidFill>
                  <a:srgbClr val="8892B0"/>
                </a:solidFill>
                <a:latin typeface="Inter" pitchFamily="34" charset="0"/>
                <a:ea typeface="Inter" pitchFamily="34" charset="-122"/>
                <a:cs typeface="Inter" pitchFamily="34" charset="-120"/>
              </a:rPr>
              <a:t>Correlation Heatmap: Darker Teal indicates stronger positive correlation.</a:t>
            </a:r>
            <a:endParaRPr lang="en-US" sz="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279175"/>
          </a:xfrm>
          <a:prstGeom prst="rect">
            <a:avLst/>
          </a:prstGeom>
        </p:spPr>
      </p:pic>
      <p:sp>
        <p:nvSpPr>
          <p:cNvPr id="4" name="Text 0"/>
          <p:cNvSpPr/>
          <p:nvPr/>
        </p:nvSpPr>
        <p:spPr>
          <a:xfrm>
            <a:off x="428625" y="515466"/>
            <a:ext cx="8715375" cy="414338"/>
          </a:xfrm>
          <a:prstGeom prst="rect">
            <a:avLst/>
          </a:prstGeom>
          <a:noFill/>
          <a:ln/>
        </p:spPr>
        <p:txBody>
          <a:bodyPr wrap="square" lIns="0" tIns="0" rIns="0" bIns="0" rtlCol="0" anchor="t">
            <a:spAutoFit/>
          </a:bodyPr>
          <a:lstStyle/>
          <a:p>
            <a:pPr algn="l" indent="0" marL="0">
              <a:buNone/>
            </a:pPr>
            <a:r>
              <a:rPr lang="en-US" sz="2450" b="1" dirty="0">
                <a:solidFill>
                  <a:srgbClr val="64FFDA"/>
                </a:solidFill>
                <a:latin typeface="Inter Black" pitchFamily="34" charset="0"/>
                <a:ea typeface="Inter Black" pitchFamily="34" charset="-122"/>
                <a:cs typeface="Inter Black" pitchFamily="34" charset="-120"/>
              </a:rPr>
              <a:t>CO6: MULTIPLE REGRESSION</a:t>
            </a:r>
            <a:endParaRPr lang="en-US" sz="2450" dirty="0"/>
          </a:p>
        </p:txBody>
      </p:sp>
      <p:sp>
        <p:nvSpPr>
          <p:cNvPr id="5" name="Text 1"/>
          <p:cNvSpPr/>
          <p:nvPr/>
        </p:nvSpPr>
        <p:spPr>
          <a:xfrm>
            <a:off x="428625" y="1072093"/>
            <a:ext cx="8715375" cy="207169"/>
          </a:xfrm>
          <a:prstGeom prst="rect">
            <a:avLst/>
          </a:prstGeom>
          <a:noFill/>
          <a:ln/>
        </p:spPr>
        <p:txBody>
          <a:bodyPr wrap="square" lIns="0" tIns="0" rIns="0" bIns="0" rtlCol="0" anchor="t">
            <a:spAutoFit/>
          </a:bodyPr>
          <a:lstStyle/>
          <a:p>
            <a:pPr algn="l" indent="0" marL="0">
              <a:buNone/>
            </a:pPr>
            <a:r>
              <a:rPr lang="en-US" sz="1200" b="1" dirty="0">
                <a:solidFill>
                  <a:srgbClr val="8892B0"/>
                </a:solidFill>
                <a:latin typeface="Inter Bold" pitchFamily="34" charset="0"/>
                <a:ea typeface="Inter Bold" pitchFamily="34" charset="-122"/>
                <a:cs typeface="Inter Bold" pitchFamily="34" charset="-120"/>
              </a:rPr>
              <a:t>Model Evaluation &amp; Predictive Accuracy</a:t>
            </a:r>
            <a:endParaRPr lang="en-US" sz="1200" dirty="0"/>
          </a:p>
        </p:txBody>
      </p:sp>
      <p:sp>
        <p:nvSpPr>
          <p:cNvPr id="6" name="Shape 2"/>
          <p:cNvSpPr/>
          <p:nvPr/>
        </p:nvSpPr>
        <p:spPr>
          <a:xfrm>
            <a:off x="428625" y="1528707"/>
            <a:ext cx="3669264" cy="3228975"/>
          </a:xfrm>
          <a:prstGeom prst="rect">
            <a:avLst/>
          </a:prstGeom>
          <a:solidFill>
            <a:srgbClr val="112240"/>
          </a:solidFill>
          <a:ln w="9144">
            <a:solidFill>
              <a:srgbClr val="172A45"/>
            </a:solidFill>
            <a:prstDash val="solid"/>
          </a:ln>
        </p:spPr>
      </p:sp>
      <p:sp>
        <p:nvSpPr>
          <p:cNvPr id="7" name="Text 3"/>
          <p:cNvSpPr/>
          <p:nvPr/>
        </p:nvSpPr>
        <p:spPr>
          <a:xfrm>
            <a:off x="535781" y="1635863"/>
            <a:ext cx="3454952" cy="194667"/>
          </a:xfrm>
          <a:prstGeom prst="rect">
            <a:avLst/>
          </a:prstGeom>
          <a:noFill/>
          <a:ln/>
        </p:spPr>
        <p:txBody>
          <a:bodyPr wrap="square" lIns="0" tIns="0" rIns="0" bIns="51054"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PERFORMANCE METRICS</a:t>
            </a:r>
            <a:endParaRPr lang="en-US" sz="800" dirty="0"/>
          </a:p>
        </p:txBody>
      </p:sp>
      <p:sp>
        <p:nvSpPr>
          <p:cNvPr id="8" name="Text 4"/>
          <p:cNvSpPr/>
          <p:nvPr/>
        </p:nvSpPr>
        <p:spPr>
          <a:xfrm>
            <a:off x="535781" y="1916255"/>
            <a:ext cx="414338" cy="137517"/>
          </a:xfrm>
          <a:prstGeom prst="rect">
            <a:avLst/>
          </a:prstGeom>
          <a:noFill/>
          <a:ln/>
        </p:spPr>
        <p:txBody>
          <a:bodyPr wrap="none" lIns="0" tIns="0" rIns="0" bIns="0" rtlCol="0" anchor="t">
            <a:spAutoFit/>
          </a:bodyPr>
          <a:lstStyle/>
          <a:p>
            <a:pPr algn="l" indent="0" marL="0">
              <a:buNone/>
            </a:pPr>
            <a:r>
              <a:rPr lang="en-US" sz="750" dirty="0">
                <a:solidFill>
                  <a:srgbClr val="8892B0"/>
                </a:solidFill>
                <a:latin typeface="Inter" pitchFamily="34" charset="0"/>
                <a:ea typeface="Inter" pitchFamily="34" charset="-122"/>
                <a:cs typeface="Inter" pitchFamily="34" charset="-120"/>
              </a:rPr>
              <a:t>R² Score</a:t>
            </a:r>
            <a:endParaRPr lang="en-US" sz="750" dirty="0"/>
          </a:p>
        </p:txBody>
      </p:sp>
      <p:sp>
        <p:nvSpPr>
          <p:cNvPr id="9" name="Text 5"/>
          <p:cNvSpPr/>
          <p:nvPr/>
        </p:nvSpPr>
        <p:spPr>
          <a:xfrm>
            <a:off x="3606757" y="1916255"/>
            <a:ext cx="383977" cy="137517"/>
          </a:xfrm>
          <a:prstGeom prst="rect">
            <a:avLst/>
          </a:prstGeom>
          <a:noFill/>
          <a:ln/>
        </p:spPr>
        <p:txBody>
          <a:bodyPr wrap="none" lIns="0" tIns="0" rIns="0" bIns="0"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0.7827</a:t>
            </a:r>
            <a:endParaRPr lang="en-US" sz="800" dirty="0"/>
          </a:p>
        </p:txBody>
      </p:sp>
      <p:sp>
        <p:nvSpPr>
          <p:cNvPr id="10" name="Text 6"/>
          <p:cNvSpPr/>
          <p:nvPr/>
        </p:nvSpPr>
        <p:spPr>
          <a:xfrm>
            <a:off x="535781" y="2160929"/>
            <a:ext cx="280392" cy="137517"/>
          </a:xfrm>
          <a:prstGeom prst="rect">
            <a:avLst/>
          </a:prstGeom>
          <a:noFill/>
          <a:ln/>
        </p:spPr>
        <p:txBody>
          <a:bodyPr wrap="none" lIns="0" tIns="0" rIns="0" bIns="0" rtlCol="0" anchor="t">
            <a:spAutoFit/>
          </a:bodyPr>
          <a:lstStyle/>
          <a:p>
            <a:pPr algn="l" indent="0" marL="0">
              <a:buNone/>
            </a:pPr>
            <a:r>
              <a:rPr lang="en-US" sz="750" dirty="0">
                <a:solidFill>
                  <a:srgbClr val="8892B0"/>
                </a:solidFill>
                <a:latin typeface="Inter" pitchFamily="34" charset="0"/>
                <a:ea typeface="Inter" pitchFamily="34" charset="-122"/>
                <a:cs typeface="Inter" pitchFamily="34" charset="-120"/>
              </a:rPr>
              <a:t>RMSE</a:t>
            </a:r>
            <a:endParaRPr lang="en-US" sz="750" dirty="0"/>
          </a:p>
        </p:txBody>
      </p:sp>
      <p:sp>
        <p:nvSpPr>
          <p:cNvPr id="11" name="Text 7"/>
          <p:cNvSpPr/>
          <p:nvPr/>
        </p:nvSpPr>
        <p:spPr>
          <a:xfrm>
            <a:off x="3399588" y="2160929"/>
            <a:ext cx="591145"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$5,800.00</a:t>
            </a:r>
            <a:endParaRPr lang="en-US" sz="800" dirty="0"/>
          </a:p>
        </p:txBody>
      </p:sp>
      <p:sp>
        <p:nvSpPr>
          <p:cNvPr id="12" name="Text 8"/>
          <p:cNvSpPr/>
          <p:nvPr/>
        </p:nvSpPr>
        <p:spPr>
          <a:xfrm>
            <a:off x="535781" y="2405602"/>
            <a:ext cx="221456" cy="137517"/>
          </a:xfrm>
          <a:prstGeom prst="rect">
            <a:avLst/>
          </a:prstGeom>
          <a:noFill/>
          <a:ln/>
        </p:spPr>
        <p:txBody>
          <a:bodyPr wrap="none" lIns="0" tIns="0" rIns="0" bIns="0" rtlCol="0" anchor="t">
            <a:spAutoFit/>
          </a:bodyPr>
          <a:lstStyle/>
          <a:p>
            <a:pPr algn="l" indent="0" marL="0">
              <a:buNone/>
            </a:pPr>
            <a:r>
              <a:rPr lang="en-US" sz="750" dirty="0">
                <a:solidFill>
                  <a:srgbClr val="8892B0"/>
                </a:solidFill>
                <a:latin typeface="Inter" pitchFamily="34" charset="0"/>
                <a:ea typeface="Inter" pitchFamily="34" charset="-122"/>
                <a:cs typeface="Inter" pitchFamily="34" charset="-120"/>
              </a:rPr>
              <a:t>MAE</a:t>
            </a:r>
            <a:endParaRPr lang="en-US" sz="750" dirty="0"/>
          </a:p>
        </p:txBody>
      </p:sp>
      <p:sp>
        <p:nvSpPr>
          <p:cNvPr id="13" name="Text 9"/>
          <p:cNvSpPr/>
          <p:nvPr/>
        </p:nvSpPr>
        <p:spPr>
          <a:xfrm>
            <a:off x="3460310" y="2405602"/>
            <a:ext cx="530423"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$4,186.51</a:t>
            </a:r>
            <a:endParaRPr lang="en-US" sz="800" dirty="0"/>
          </a:p>
        </p:txBody>
      </p:sp>
      <p:sp>
        <p:nvSpPr>
          <p:cNvPr id="14" name="Text 10"/>
          <p:cNvSpPr/>
          <p:nvPr/>
        </p:nvSpPr>
        <p:spPr>
          <a:xfrm>
            <a:off x="535781" y="2650275"/>
            <a:ext cx="216098" cy="137517"/>
          </a:xfrm>
          <a:prstGeom prst="rect">
            <a:avLst/>
          </a:prstGeom>
          <a:noFill/>
          <a:ln/>
        </p:spPr>
        <p:txBody>
          <a:bodyPr wrap="none" lIns="0" tIns="0" rIns="0" bIns="0" rtlCol="0" anchor="t">
            <a:spAutoFit/>
          </a:bodyPr>
          <a:lstStyle/>
          <a:p>
            <a:pPr algn="l" indent="0" marL="0">
              <a:buNone/>
            </a:pPr>
            <a:r>
              <a:rPr lang="en-US" sz="750" dirty="0">
                <a:solidFill>
                  <a:srgbClr val="8892B0"/>
                </a:solidFill>
                <a:latin typeface="Inter" pitchFamily="34" charset="0"/>
                <a:ea typeface="Inter" pitchFamily="34" charset="-122"/>
                <a:cs typeface="Inter" pitchFamily="34" charset="-120"/>
              </a:rPr>
              <a:t>MSE</a:t>
            </a:r>
            <a:endParaRPr lang="en-US" sz="750" dirty="0"/>
          </a:p>
        </p:txBody>
      </p:sp>
      <p:sp>
        <p:nvSpPr>
          <p:cNvPr id="15" name="Text 11"/>
          <p:cNvSpPr/>
          <p:nvPr/>
        </p:nvSpPr>
        <p:spPr>
          <a:xfrm>
            <a:off x="3174560" y="2650275"/>
            <a:ext cx="816173"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33,635,210.43</a:t>
            </a:r>
            <a:endParaRPr lang="en-US" sz="800" dirty="0"/>
          </a:p>
        </p:txBody>
      </p:sp>
      <p:sp>
        <p:nvSpPr>
          <p:cNvPr id="16" name="Text 12"/>
          <p:cNvSpPr/>
          <p:nvPr/>
        </p:nvSpPr>
        <p:spPr>
          <a:xfrm>
            <a:off x="535781" y="2980674"/>
            <a:ext cx="3454952" cy="194667"/>
          </a:xfrm>
          <a:prstGeom prst="rect">
            <a:avLst/>
          </a:prstGeom>
          <a:noFill/>
          <a:ln/>
        </p:spPr>
        <p:txBody>
          <a:bodyPr wrap="square" lIns="0" tIns="0" rIns="0" bIns="51054" rtlCol="0" anchor="t">
            <a:spAutoFit/>
          </a:bodyPr>
          <a:lstStyle/>
          <a:p>
            <a:pPr algn="l" indent="0" marL="0">
              <a:buNone/>
            </a:pPr>
            <a:r>
              <a:rPr lang="en-US" sz="800" b="1" dirty="0">
                <a:solidFill>
                  <a:srgbClr val="64FFDA"/>
                </a:solidFill>
                <a:latin typeface="Inter Bold" pitchFamily="34" charset="0"/>
                <a:ea typeface="Inter Bold" pitchFamily="34" charset="-122"/>
                <a:cs typeface="Inter Bold" pitchFamily="34" charset="-120"/>
              </a:rPr>
              <a:t>FEATURE COEFFICIENTS</a:t>
            </a:r>
            <a:endParaRPr lang="en-US" sz="800" dirty="0"/>
          </a:p>
        </p:txBody>
      </p:sp>
      <p:sp>
        <p:nvSpPr>
          <p:cNvPr id="17" name="Text 13"/>
          <p:cNvSpPr/>
          <p:nvPr/>
        </p:nvSpPr>
        <p:spPr>
          <a:xfrm>
            <a:off x="535781" y="3261066"/>
            <a:ext cx="635794" cy="137517"/>
          </a:xfrm>
          <a:prstGeom prst="rect">
            <a:avLst/>
          </a:prstGeom>
          <a:noFill/>
          <a:ln/>
        </p:spPr>
        <p:txBody>
          <a:bodyPr wrap="none" lIns="0" tIns="0" rIns="0" bIns="0" rtlCol="0" anchor="t">
            <a:spAutoFit/>
          </a:bodyPr>
          <a:lstStyle/>
          <a:p>
            <a:pPr algn="l" indent="0" marL="0">
              <a:buNone/>
            </a:pPr>
            <a:r>
              <a:rPr lang="en-US" sz="750" dirty="0">
                <a:solidFill>
                  <a:srgbClr val="8892B0"/>
                </a:solidFill>
                <a:latin typeface="Inter" pitchFamily="34" charset="0"/>
                <a:ea typeface="Inter" pitchFamily="34" charset="-122"/>
                <a:cs typeface="Inter" pitchFamily="34" charset="-120"/>
              </a:rPr>
              <a:t>Smoker (Yes)</a:t>
            </a:r>
            <a:endParaRPr lang="en-US" sz="750" dirty="0"/>
          </a:p>
        </p:txBody>
      </p:sp>
      <p:sp>
        <p:nvSpPr>
          <p:cNvPr id="18" name="Text 14"/>
          <p:cNvSpPr/>
          <p:nvPr/>
        </p:nvSpPr>
        <p:spPr>
          <a:xfrm>
            <a:off x="3285288" y="3261066"/>
            <a:ext cx="705445"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+$23,647.78</a:t>
            </a:r>
            <a:endParaRPr lang="en-US" sz="800" dirty="0"/>
          </a:p>
        </p:txBody>
      </p:sp>
      <p:sp>
        <p:nvSpPr>
          <p:cNvPr id="19" name="Text 15"/>
          <p:cNvSpPr/>
          <p:nvPr/>
        </p:nvSpPr>
        <p:spPr>
          <a:xfrm>
            <a:off x="535781" y="3505740"/>
            <a:ext cx="396478" cy="137517"/>
          </a:xfrm>
          <a:prstGeom prst="rect">
            <a:avLst/>
          </a:prstGeom>
          <a:noFill/>
          <a:ln/>
        </p:spPr>
        <p:txBody>
          <a:bodyPr wrap="none" lIns="0" tIns="0" rIns="0" bIns="0" rtlCol="0" anchor="t">
            <a:spAutoFit/>
          </a:bodyPr>
          <a:lstStyle/>
          <a:p>
            <a:pPr algn="l" indent="0" marL="0">
              <a:buNone/>
            </a:pPr>
            <a:r>
              <a:rPr lang="en-US" sz="750" dirty="0">
                <a:solidFill>
                  <a:srgbClr val="8892B0"/>
                </a:solidFill>
                <a:latin typeface="Inter" pitchFamily="34" charset="0"/>
                <a:ea typeface="Inter" pitchFamily="34" charset="-122"/>
                <a:cs typeface="Inter" pitchFamily="34" charset="-120"/>
              </a:rPr>
              <a:t>Children</a:t>
            </a:r>
            <a:endParaRPr lang="en-US" sz="750" dirty="0"/>
          </a:p>
        </p:txBody>
      </p:sp>
      <p:sp>
        <p:nvSpPr>
          <p:cNvPr id="20" name="Text 16"/>
          <p:cNvSpPr/>
          <p:nvPr/>
        </p:nvSpPr>
        <p:spPr>
          <a:xfrm>
            <a:off x="3438878" y="3505740"/>
            <a:ext cx="551855"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+$425.23</a:t>
            </a:r>
            <a:endParaRPr lang="en-US" sz="800" dirty="0"/>
          </a:p>
        </p:txBody>
      </p:sp>
      <p:sp>
        <p:nvSpPr>
          <p:cNvPr id="21" name="Text 17"/>
          <p:cNvSpPr/>
          <p:nvPr/>
        </p:nvSpPr>
        <p:spPr>
          <a:xfrm>
            <a:off x="535781" y="3750413"/>
            <a:ext cx="183952" cy="137517"/>
          </a:xfrm>
          <a:prstGeom prst="rect">
            <a:avLst/>
          </a:prstGeom>
          <a:noFill/>
          <a:ln/>
        </p:spPr>
        <p:txBody>
          <a:bodyPr wrap="none" lIns="0" tIns="0" rIns="0" bIns="0" rtlCol="0" anchor="t">
            <a:spAutoFit/>
          </a:bodyPr>
          <a:lstStyle/>
          <a:p>
            <a:pPr algn="l" indent="0" marL="0">
              <a:buNone/>
            </a:pPr>
            <a:r>
              <a:rPr lang="en-US" sz="750" dirty="0">
                <a:solidFill>
                  <a:srgbClr val="8892B0"/>
                </a:solidFill>
                <a:latin typeface="Inter" pitchFamily="34" charset="0"/>
                <a:ea typeface="Inter" pitchFamily="34" charset="-122"/>
                <a:cs typeface="Inter" pitchFamily="34" charset="-120"/>
              </a:rPr>
              <a:t>BMI</a:t>
            </a:r>
            <a:endParaRPr lang="en-US" sz="750" dirty="0"/>
          </a:p>
        </p:txBody>
      </p:sp>
      <p:sp>
        <p:nvSpPr>
          <p:cNvPr id="22" name="Text 18"/>
          <p:cNvSpPr/>
          <p:nvPr/>
        </p:nvSpPr>
        <p:spPr>
          <a:xfrm>
            <a:off x="3438878" y="3750413"/>
            <a:ext cx="551855"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+$335.56</a:t>
            </a:r>
            <a:endParaRPr lang="en-US" sz="800" dirty="0"/>
          </a:p>
        </p:txBody>
      </p:sp>
      <p:sp>
        <p:nvSpPr>
          <p:cNvPr id="23" name="Text 19"/>
          <p:cNvSpPr/>
          <p:nvPr/>
        </p:nvSpPr>
        <p:spPr>
          <a:xfrm>
            <a:off x="535781" y="3995086"/>
            <a:ext cx="189309" cy="137517"/>
          </a:xfrm>
          <a:prstGeom prst="rect">
            <a:avLst/>
          </a:prstGeom>
          <a:noFill/>
          <a:ln/>
        </p:spPr>
        <p:txBody>
          <a:bodyPr wrap="none" lIns="0" tIns="0" rIns="0" bIns="0" rtlCol="0" anchor="t">
            <a:spAutoFit/>
          </a:bodyPr>
          <a:lstStyle/>
          <a:p>
            <a:pPr algn="l" indent="0" marL="0">
              <a:buNone/>
            </a:pPr>
            <a:r>
              <a:rPr lang="en-US" sz="750" dirty="0">
                <a:solidFill>
                  <a:srgbClr val="8892B0"/>
                </a:solidFill>
                <a:latin typeface="Inter" pitchFamily="34" charset="0"/>
                <a:ea typeface="Inter" pitchFamily="34" charset="-122"/>
                <a:cs typeface="Inter" pitchFamily="34" charset="-120"/>
              </a:rPr>
              <a:t>Age</a:t>
            </a:r>
            <a:endParaRPr lang="en-US" sz="750" dirty="0"/>
          </a:p>
        </p:txBody>
      </p:sp>
      <p:sp>
        <p:nvSpPr>
          <p:cNvPr id="24" name="Text 20"/>
          <p:cNvSpPr/>
          <p:nvPr/>
        </p:nvSpPr>
        <p:spPr>
          <a:xfrm>
            <a:off x="3440664" y="3995086"/>
            <a:ext cx="550069" cy="137517"/>
          </a:xfrm>
          <a:prstGeom prst="rect">
            <a:avLst/>
          </a:prstGeom>
          <a:noFill/>
          <a:ln/>
        </p:spPr>
        <p:txBody>
          <a:bodyPr wrap="none" lIns="0" tIns="0" rIns="0" bIns="0" rtlCol="0" anchor="t">
            <a:spAutoFit/>
          </a:bodyPr>
          <a:lstStyle/>
          <a:p>
            <a:pPr algn="l" indent="0" marL="0">
              <a:buNone/>
            </a:pPr>
            <a:r>
              <a:rPr lang="en-US" sz="800" b="1" dirty="0">
                <a:solidFill>
                  <a:srgbClr val="CCD6F6"/>
                </a:solidFill>
                <a:latin typeface="Inter Bold" pitchFamily="34" charset="0"/>
                <a:ea typeface="Inter Bold" pitchFamily="34" charset="-122"/>
                <a:cs typeface="Inter Bold" pitchFamily="34" charset="-120"/>
              </a:rPr>
              <a:t>+$256.86</a:t>
            </a:r>
            <a:endParaRPr lang="en-US" sz="800" dirty="0"/>
          </a:p>
        </p:txBody>
      </p:sp>
      <p:sp>
        <p:nvSpPr>
          <p:cNvPr id="25" name="Shape 21"/>
          <p:cNvSpPr/>
          <p:nvPr/>
        </p:nvSpPr>
        <p:spPr>
          <a:xfrm>
            <a:off x="4312202" y="1528707"/>
            <a:ext cx="4403173" cy="2943225"/>
          </a:xfrm>
          <a:prstGeom prst="rect">
            <a:avLst/>
          </a:prstGeom>
          <a:solidFill>
            <a:srgbClr val="112240"/>
          </a:solidFill>
          <a:ln w="9144">
            <a:solidFill>
              <a:srgbClr val="172A45"/>
            </a:solidFill>
            <a:prstDash val="solid"/>
          </a:ln>
        </p:spPr>
      </p:sp>
      <p:pic>
        <p:nvPicPr>
          <p:cNvPr id="26" name="Image 1" descr="preencoded.png">    </p:cNvPr>
          <p:cNvPicPr>
            <a:picLocks noChangeAspect="1"/>
          </p:cNvPicPr>
          <p:nvPr/>
        </p:nvPicPr>
        <p:blipFill>
          <a:blip r:embed="rId2"/>
          <a:stretch>
            <a:fillRect/>
          </a:stretch>
        </p:blipFill>
        <p:spPr>
          <a:xfrm>
            <a:off x="4419358" y="1635863"/>
            <a:ext cx="4173736" cy="2714625"/>
          </a:xfrm>
          <a:prstGeom prst="rect">
            <a:avLst/>
          </a:prstGeom>
        </p:spPr>
      </p:pic>
      <p:sp>
        <p:nvSpPr>
          <p:cNvPr id="27" name="Text 22"/>
          <p:cNvSpPr/>
          <p:nvPr/>
        </p:nvSpPr>
        <p:spPr>
          <a:xfrm>
            <a:off x="4312202" y="4514794"/>
            <a:ext cx="4403173" cy="112514"/>
          </a:xfrm>
          <a:prstGeom prst="rect">
            <a:avLst/>
          </a:prstGeom>
          <a:noFill/>
          <a:ln/>
        </p:spPr>
        <p:txBody>
          <a:bodyPr wrap="square" lIns="0" tIns="0" rIns="0" bIns="0" rtlCol="0" anchor="t">
            <a:spAutoFit/>
          </a:bodyPr>
          <a:lstStyle/>
          <a:p>
            <a:pPr algn="ctr" indent="0" marL="0">
              <a:buNone/>
            </a:pPr>
            <a:r>
              <a:rPr lang="en-US" sz="650" dirty="0">
                <a:solidFill>
                  <a:srgbClr val="8892B0"/>
                </a:solidFill>
                <a:latin typeface="Inter" pitchFamily="34" charset="0"/>
                <a:ea typeface="Inter" pitchFamily="34" charset="-122"/>
                <a:cs typeface="Inter" pitchFamily="34" charset="-120"/>
              </a:rPr>
              <a:t>Actual vs. Predicted Charges: The linear alignment indicates a high R² of 78.3%.</a:t>
            </a:r>
            <a:endParaRPr lang="en-US" sz="650" dirty="0"/>
          </a:p>
        </p:txBody>
      </p:sp>
      <p:sp>
        <p:nvSpPr>
          <p:cNvPr id="28" name="Shape 23"/>
          <p:cNvSpPr/>
          <p:nvPr/>
        </p:nvSpPr>
        <p:spPr>
          <a:xfrm>
            <a:off x="428625" y="4886269"/>
            <a:ext cx="8286750" cy="378619"/>
          </a:xfrm>
          <a:prstGeom prst="rect">
            <a:avLst/>
          </a:prstGeom>
          <a:solidFill>
            <a:srgbClr val="0D1D36"/>
          </a:solidFill>
          <a:ln w="9144">
            <a:solidFill>
              <a:srgbClr val="64FFDA"/>
            </a:solidFill>
            <a:prstDash val="solid"/>
          </a:ln>
        </p:spPr>
      </p:sp>
      <p:sp>
        <p:nvSpPr>
          <p:cNvPr id="29" name="Text 24"/>
          <p:cNvSpPr/>
          <p:nvPr/>
        </p:nvSpPr>
        <p:spPr>
          <a:xfrm>
            <a:off x="642938" y="4993425"/>
            <a:ext cx="7858125" cy="150019"/>
          </a:xfrm>
          <a:prstGeom prst="rect">
            <a:avLst/>
          </a:prstGeom>
          <a:noFill/>
          <a:ln/>
        </p:spPr>
        <p:txBody>
          <a:bodyPr wrap="square" lIns="0" tIns="0" rIns="0" bIns="0" rtlCol="0" anchor="t">
            <a:spAutoFit/>
          </a:bodyPr>
          <a:lstStyle/>
          <a:p>
            <a:pPr algn="l" indent="0" marL="0">
              <a:buNone/>
            </a:pPr>
            <a:r>
              <a:rPr lang="en-US" sz="800" b="1" dirty="0">
                <a:solidFill>
                  <a:srgbClr val="64FFDA"/>
                </a:solidFill>
                <a:latin typeface="Fira Code Bold" pitchFamily="34" charset="0"/>
                <a:ea typeface="Fira Code Bold" pitchFamily="34" charset="-122"/>
                <a:cs typeface="Fira Code Bold" pitchFamily="34" charset="-120"/>
              </a:rPr>
              <a:t>Final Model:</a:t>
            </a:r>
            <a:r>
              <a:rPr lang="en-US" sz="850" dirty="0">
                <a:solidFill>
                  <a:srgbClr val="CCD6F6"/>
                </a:solidFill>
                <a:latin typeface="Fira Code" pitchFamily="34" charset="0"/>
                <a:ea typeface="Fira Code" pitchFamily="34" charset="-122"/>
                <a:cs typeface="Fira Code" pitchFamily="34" charset="-120"/>
              </a:rPr>
              <a:t> Charges = -11,947.16 + 256.86(Age) + 335.56(BMI) + 425.23(Children) + 23,647.78(Smoker)</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428625" y="515466"/>
            <a:ext cx="8715375" cy="414338"/>
          </a:xfrm>
          <a:prstGeom prst="rect">
            <a:avLst/>
          </a:prstGeom>
          <a:noFill/>
          <a:ln/>
        </p:spPr>
        <p:txBody>
          <a:bodyPr wrap="square" lIns="0" tIns="0" rIns="0" bIns="0" rtlCol="0" anchor="t">
            <a:spAutoFit/>
          </a:bodyPr>
          <a:lstStyle/>
          <a:p>
            <a:pPr algn="l" indent="0" marL="0">
              <a:buNone/>
            </a:pPr>
            <a:r>
              <a:rPr lang="en-US" sz="2450" b="1" dirty="0">
                <a:solidFill>
                  <a:srgbClr val="64FFDA"/>
                </a:solidFill>
                <a:latin typeface="Inter Black" pitchFamily="34" charset="0"/>
                <a:ea typeface="Inter Black" pitchFamily="34" charset="-122"/>
                <a:cs typeface="Inter Black" pitchFamily="34" charset="-120"/>
              </a:rPr>
              <a:t>VISUAL INSIGHTS</a:t>
            </a:r>
            <a:endParaRPr lang="en-US" sz="2450" dirty="0"/>
          </a:p>
        </p:txBody>
      </p:sp>
      <p:sp>
        <p:nvSpPr>
          <p:cNvPr id="5" name="Text 1"/>
          <p:cNvSpPr/>
          <p:nvPr/>
        </p:nvSpPr>
        <p:spPr>
          <a:xfrm>
            <a:off x="428625" y="1072093"/>
            <a:ext cx="8715375" cy="207169"/>
          </a:xfrm>
          <a:prstGeom prst="rect">
            <a:avLst/>
          </a:prstGeom>
          <a:noFill/>
          <a:ln/>
        </p:spPr>
        <p:txBody>
          <a:bodyPr wrap="square" lIns="0" tIns="0" rIns="0" bIns="0" rtlCol="0" anchor="t">
            <a:spAutoFit/>
          </a:bodyPr>
          <a:lstStyle/>
          <a:p>
            <a:pPr algn="l" indent="0" marL="0">
              <a:buNone/>
            </a:pPr>
            <a:r>
              <a:rPr lang="en-US" sz="1200" b="1" dirty="0">
                <a:solidFill>
                  <a:srgbClr val="8892B0"/>
                </a:solidFill>
                <a:latin typeface="Inter Bold" pitchFamily="34" charset="0"/>
                <a:ea typeface="Inter Bold" pitchFamily="34" charset="-122"/>
                <a:cs typeface="Inter Bold" pitchFamily="34" charset="-120"/>
              </a:rPr>
              <a:t>Risk Clustering &amp; Compounding Effects (CO6)</a:t>
            </a:r>
            <a:endParaRPr lang="en-US" sz="1200" dirty="0"/>
          </a:p>
        </p:txBody>
      </p:sp>
      <p:sp>
        <p:nvSpPr>
          <p:cNvPr id="6" name="Shape 2"/>
          <p:cNvSpPr/>
          <p:nvPr/>
        </p:nvSpPr>
        <p:spPr>
          <a:xfrm>
            <a:off x="428625" y="1564425"/>
            <a:ext cx="3228975" cy="690070"/>
          </a:xfrm>
          <a:prstGeom prst="rect">
            <a:avLst/>
          </a:prstGeom>
          <a:solidFill>
            <a:srgbClr val="112240"/>
          </a:solidFill>
          <a:ln/>
        </p:spPr>
      </p:sp>
      <p:sp>
        <p:nvSpPr>
          <p:cNvPr id="7" name="Shape 3"/>
          <p:cNvSpPr/>
          <p:nvPr/>
        </p:nvSpPr>
        <p:spPr>
          <a:xfrm>
            <a:off x="428625" y="1564425"/>
            <a:ext cx="3228975" cy="7144"/>
          </a:xfrm>
          <a:prstGeom prst="rect">
            <a:avLst/>
          </a:prstGeom>
          <a:solidFill>
            <a:srgbClr val="172A45"/>
          </a:solidFill>
          <a:ln/>
        </p:spPr>
      </p:sp>
      <p:sp>
        <p:nvSpPr>
          <p:cNvPr id="8" name="Shape 4"/>
          <p:cNvSpPr/>
          <p:nvPr/>
        </p:nvSpPr>
        <p:spPr>
          <a:xfrm>
            <a:off x="3650456" y="1564425"/>
            <a:ext cx="7144" cy="690070"/>
          </a:xfrm>
          <a:prstGeom prst="rect">
            <a:avLst/>
          </a:prstGeom>
          <a:solidFill>
            <a:srgbClr val="172A45"/>
          </a:solidFill>
          <a:ln/>
        </p:spPr>
      </p:sp>
      <p:sp>
        <p:nvSpPr>
          <p:cNvPr id="9" name="Shape 5"/>
          <p:cNvSpPr/>
          <p:nvPr/>
        </p:nvSpPr>
        <p:spPr>
          <a:xfrm>
            <a:off x="428625" y="2247351"/>
            <a:ext cx="3228975" cy="7144"/>
          </a:xfrm>
          <a:prstGeom prst="rect">
            <a:avLst/>
          </a:prstGeom>
          <a:solidFill>
            <a:srgbClr val="172A45"/>
          </a:solidFill>
          <a:ln/>
        </p:spPr>
      </p:sp>
      <p:sp>
        <p:nvSpPr>
          <p:cNvPr id="10" name="Shape 6"/>
          <p:cNvSpPr/>
          <p:nvPr/>
        </p:nvSpPr>
        <p:spPr>
          <a:xfrm>
            <a:off x="428625" y="1564425"/>
            <a:ext cx="28575" cy="690070"/>
          </a:xfrm>
          <a:prstGeom prst="rect">
            <a:avLst/>
          </a:prstGeom>
          <a:solidFill>
            <a:srgbClr val="64FFDA"/>
          </a:solidFill>
          <a:ln/>
        </p:spPr>
      </p:sp>
      <p:sp>
        <p:nvSpPr>
          <p:cNvPr id="11" name="Text 7"/>
          <p:cNvSpPr/>
          <p:nvPr/>
        </p:nvSpPr>
        <p:spPr>
          <a:xfrm>
            <a:off x="535781" y="1671582"/>
            <a:ext cx="3014663" cy="121444"/>
          </a:xfrm>
          <a:prstGeom prst="rect">
            <a:avLst/>
          </a:prstGeom>
          <a:noFill/>
          <a:ln/>
        </p:spPr>
        <p:txBody>
          <a:bodyPr wrap="square" lIns="0" tIns="0" rIns="0" bIns="0" rtlCol="0" anchor="t">
            <a:spAutoFit/>
          </a:bodyPr>
          <a:lstStyle/>
          <a:p>
            <a:pPr algn="l" indent="0" marL="0">
              <a:buNone/>
            </a:pPr>
            <a:r>
              <a:rPr lang="en-US" sz="700" b="1" dirty="0">
                <a:solidFill>
                  <a:srgbClr val="64FFDA"/>
                </a:solidFill>
                <a:latin typeface="Inter Black" pitchFamily="34" charset="0"/>
                <a:ea typeface="Inter Black" pitchFamily="34" charset="-122"/>
                <a:cs typeface="Inter Black" pitchFamily="34" charset="-120"/>
              </a:rPr>
              <a:t>LOW-RISK BAND</a:t>
            </a:r>
            <a:endParaRPr lang="en-US" sz="700" dirty="0"/>
          </a:p>
        </p:txBody>
      </p:sp>
      <p:sp>
        <p:nvSpPr>
          <p:cNvPr id="12" name="Text 8"/>
          <p:cNvSpPr/>
          <p:nvPr/>
        </p:nvSpPr>
        <p:spPr>
          <a:xfrm>
            <a:off x="535781" y="1893038"/>
            <a:ext cx="3014663" cy="140001"/>
          </a:xfrm>
          <a:prstGeom prst="rect">
            <a:avLst/>
          </a:prstGeom>
          <a:noFill/>
          <a:ln/>
        </p:spPr>
        <p:txBody>
          <a:bodyPr wrap="none" lIns="0" tIns="0" rIns="0" bIns="0" rtlCol="0" anchor="t">
            <a:spAutoFit/>
          </a:bodyPr>
          <a:lstStyle/>
          <a:p>
            <a:pPr algn="l" indent="0" marL="0">
              <a:lnSpc>
                <a:spcPct val="112000"/>
              </a:lnSpc>
              <a:buNone/>
            </a:pPr>
            <a:r>
              <a:rPr lang="en-US" sz="750" dirty="0">
                <a:solidFill>
                  <a:srgbClr val="8892B0"/>
                </a:solidFill>
                <a:latin typeface="Inter" pitchFamily="34" charset="0"/>
                <a:ea typeface="Inter" pitchFamily="34" charset="-122"/>
                <a:cs typeface="Inter" pitchFamily="34" charset="-120"/>
              </a:rPr>
              <a:t>Non-smokers across all BMI levels. Costs consistently </a:t>
            </a:r>
            <a:r>
              <a:rPr lang="en-US" sz="750" dirty="0">
                <a:solidFill>
                  <a:srgbClr val="64FFDA"/>
                </a:solidFill>
                <a:latin typeface="Inter" pitchFamily="34" charset="0"/>
                <a:ea typeface="Inter" pitchFamily="34" charset="-122"/>
                <a:cs typeface="Inter" pitchFamily="34" charset="-120"/>
              </a:rPr>
              <a:t>&lt; $15k</a:t>
            </a:r>
            <a:r>
              <a:rPr lang="en-US" sz="750" dirty="0">
                <a:solidFill>
                  <a:srgbClr val="8892B0"/>
                </a:solidFill>
                <a:latin typeface="Inter" pitchFamily="34" charset="0"/>
                <a:ea typeface="Inter" pitchFamily="34" charset="-122"/>
                <a:cs typeface="Inter" pitchFamily="34" charset="-120"/>
              </a:rPr>
              <a:t>.</a:t>
            </a:r>
            <a:endParaRPr lang="en-US" sz="750" dirty="0"/>
          </a:p>
        </p:txBody>
      </p:sp>
      <p:sp>
        <p:nvSpPr>
          <p:cNvPr id="13" name="Shape 9"/>
          <p:cNvSpPr/>
          <p:nvPr/>
        </p:nvSpPr>
        <p:spPr>
          <a:xfrm>
            <a:off x="428625" y="2347364"/>
            <a:ext cx="3228975" cy="690070"/>
          </a:xfrm>
          <a:prstGeom prst="rect">
            <a:avLst/>
          </a:prstGeom>
          <a:solidFill>
            <a:srgbClr val="112240"/>
          </a:solidFill>
          <a:ln/>
        </p:spPr>
      </p:sp>
      <p:sp>
        <p:nvSpPr>
          <p:cNvPr id="14" name="Shape 10"/>
          <p:cNvSpPr/>
          <p:nvPr/>
        </p:nvSpPr>
        <p:spPr>
          <a:xfrm>
            <a:off x="428625" y="2347364"/>
            <a:ext cx="3228975" cy="7144"/>
          </a:xfrm>
          <a:prstGeom prst="rect">
            <a:avLst/>
          </a:prstGeom>
          <a:solidFill>
            <a:srgbClr val="172A45"/>
          </a:solidFill>
          <a:ln/>
        </p:spPr>
      </p:sp>
      <p:sp>
        <p:nvSpPr>
          <p:cNvPr id="15" name="Shape 11"/>
          <p:cNvSpPr/>
          <p:nvPr/>
        </p:nvSpPr>
        <p:spPr>
          <a:xfrm>
            <a:off x="3650456" y="2347364"/>
            <a:ext cx="7144" cy="690070"/>
          </a:xfrm>
          <a:prstGeom prst="rect">
            <a:avLst/>
          </a:prstGeom>
          <a:solidFill>
            <a:srgbClr val="172A45"/>
          </a:solidFill>
          <a:ln/>
        </p:spPr>
      </p:sp>
      <p:sp>
        <p:nvSpPr>
          <p:cNvPr id="16" name="Shape 12"/>
          <p:cNvSpPr/>
          <p:nvPr/>
        </p:nvSpPr>
        <p:spPr>
          <a:xfrm>
            <a:off x="428625" y="3030289"/>
            <a:ext cx="3228975" cy="7144"/>
          </a:xfrm>
          <a:prstGeom prst="rect">
            <a:avLst/>
          </a:prstGeom>
          <a:solidFill>
            <a:srgbClr val="172A45"/>
          </a:solidFill>
          <a:ln/>
        </p:spPr>
      </p:sp>
      <p:sp>
        <p:nvSpPr>
          <p:cNvPr id="17" name="Shape 13"/>
          <p:cNvSpPr/>
          <p:nvPr/>
        </p:nvSpPr>
        <p:spPr>
          <a:xfrm>
            <a:off x="428625" y="2347364"/>
            <a:ext cx="28575" cy="690070"/>
          </a:xfrm>
          <a:prstGeom prst="rect">
            <a:avLst/>
          </a:prstGeom>
          <a:solidFill>
            <a:srgbClr val="FFD700"/>
          </a:solidFill>
          <a:ln/>
        </p:spPr>
      </p:sp>
      <p:sp>
        <p:nvSpPr>
          <p:cNvPr id="18" name="Text 14"/>
          <p:cNvSpPr/>
          <p:nvPr/>
        </p:nvSpPr>
        <p:spPr>
          <a:xfrm>
            <a:off x="535781" y="2454520"/>
            <a:ext cx="3014663" cy="121444"/>
          </a:xfrm>
          <a:prstGeom prst="rect">
            <a:avLst/>
          </a:prstGeom>
          <a:noFill/>
          <a:ln/>
        </p:spPr>
        <p:txBody>
          <a:bodyPr wrap="square" lIns="0" tIns="0" rIns="0" bIns="0" rtlCol="0" anchor="t">
            <a:spAutoFit/>
          </a:bodyPr>
          <a:lstStyle/>
          <a:p>
            <a:pPr algn="l" indent="0" marL="0">
              <a:buNone/>
            </a:pPr>
            <a:r>
              <a:rPr lang="en-US" sz="700" b="1" dirty="0">
                <a:solidFill>
                  <a:srgbClr val="FFD700"/>
                </a:solidFill>
                <a:latin typeface="Inter Black" pitchFamily="34" charset="0"/>
                <a:ea typeface="Inter Black" pitchFamily="34" charset="-122"/>
                <a:cs typeface="Inter Black" pitchFamily="34" charset="-120"/>
              </a:rPr>
              <a:t>MEDIUM-RISK BAND</a:t>
            </a:r>
            <a:endParaRPr lang="en-US" sz="700" dirty="0"/>
          </a:p>
        </p:txBody>
      </p:sp>
      <p:sp>
        <p:nvSpPr>
          <p:cNvPr id="19" name="Text 15"/>
          <p:cNvSpPr/>
          <p:nvPr/>
        </p:nvSpPr>
        <p:spPr>
          <a:xfrm>
            <a:off x="535781" y="2675976"/>
            <a:ext cx="3014663" cy="140001"/>
          </a:xfrm>
          <a:prstGeom prst="rect">
            <a:avLst/>
          </a:prstGeom>
          <a:noFill/>
          <a:ln/>
        </p:spPr>
        <p:txBody>
          <a:bodyPr wrap="none" lIns="0" tIns="0" rIns="0" bIns="0" rtlCol="0" anchor="t">
            <a:spAutoFit/>
          </a:bodyPr>
          <a:lstStyle/>
          <a:p>
            <a:pPr algn="l" indent="0" marL="0">
              <a:lnSpc>
                <a:spcPct val="112000"/>
              </a:lnSpc>
              <a:buNone/>
            </a:pPr>
            <a:r>
              <a:rPr lang="en-US" sz="750" dirty="0">
                <a:solidFill>
                  <a:srgbClr val="8892B0"/>
                </a:solidFill>
                <a:latin typeface="Inter" pitchFamily="34" charset="0"/>
                <a:ea typeface="Inter" pitchFamily="34" charset="-122"/>
                <a:cs typeface="Inter" pitchFamily="34" charset="-120"/>
              </a:rPr>
              <a:t>Smokers with BMI &lt; 30. Costs range between </a:t>
            </a:r>
            <a:r>
              <a:rPr lang="en-US" sz="750" dirty="0">
                <a:solidFill>
                  <a:srgbClr val="FFD700"/>
                </a:solidFill>
                <a:latin typeface="Inter" pitchFamily="34" charset="0"/>
                <a:ea typeface="Inter" pitchFamily="34" charset="-122"/>
                <a:cs typeface="Inter" pitchFamily="34" charset="-120"/>
              </a:rPr>
              <a:t>$15k - $30k</a:t>
            </a:r>
            <a:r>
              <a:rPr lang="en-US" sz="750" dirty="0">
                <a:solidFill>
                  <a:srgbClr val="8892B0"/>
                </a:solidFill>
                <a:latin typeface="Inter" pitchFamily="34" charset="0"/>
                <a:ea typeface="Inter" pitchFamily="34" charset="-122"/>
                <a:cs typeface="Inter" pitchFamily="34" charset="-120"/>
              </a:rPr>
              <a:t>.</a:t>
            </a:r>
            <a:endParaRPr lang="en-US" sz="750" dirty="0"/>
          </a:p>
        </p:txBody>
      </p:sp>
      <p:sp>
        <p:nvSpPr>
          <p:cNvPr id="20" name="Shape 16"/>
          <p:cNvSpPr/>
          <p:nvPr/>
        </p:nvSpPr>
        <p:spPr>
          <a:xfrm>
            <a:off x="428625" y="3130302"/>
            <a:ext cx="3228975" cy="690070"/>
          </a:xfrm>
          <a:prstGeom prst="rect">
            <a:avLst/>
          </a:prstGeom>
          <a:solidFill>
            <a:srgbClr val="112240"/>
          </a:solidFill>
          <a:ln/>
        </p:spPr>
      </p:sp>
      <p:sp>
        <p:nvSpPr>
          <p:cNvPr id="21" name="Shape 17"/>
          <p:cNvSpPr/>
          <p:nvPr/>
        </p:nvSpPr>
        <p:spPr>
          <a:xfrm>
            <a:off x="428625" y="3130302"/>
            <a:ext cx="3228975" cy="7144"/>
          </a:xfrm>
          <a:prstGeom prst="rect">
            <a:avLst/>
          </a:prstGeom>
          <a:solidFill>
            <a:srgbClr val="172A45"/>
          </a:solidFill>
          <a:ln/>
        </p:spPr>
      </p:sp>
      <p:sp>
        <p:nvSpPr>
          <p:cNvPr id="22" name="Shape 18"/>
          <p:cNvSpPr/>
          <p:nvPr/>
        </p:nvSpPr>
        <p:spPr>
          <a:xfrm>
            <a:off x="3650456" y="3130302"/>
            <a:ext cx="7144" cy="690070"/>
          </a:xfrm>
          <a:prstGeom prst="rect">
            <a:avLst/>
          </a:prstGeom>
          <a:solidFill>
            <a:srgbClr val="172A45"/>
          </a:solidFill>
          <a:ln/>
        </p:spPr>
      </p:sp>
      <p:sp>
        <p:nvSpPr>
          <p:cNvPr id="23" name="Shape 19"/>
          <p:cNvSpPr/>
          <p:nvPr/>
        </p:nvSpPr>
        <p:spPr>
          <a:xfrm>
            <a:off x="428625" y="3813228"/>
            <a:ext cx="3228975" cy="7144"/>
          </a:xfrm>
          <a:prstGeom prst="rect">
            <a:avLst/>
          </a:prstGeom>
          <a:solidFill>
            <a:srgbClr val="172A45"/>
          </a:solidFill>
          <a:ln/>
        </p:spPr>
      </p:sp>
      <p:sp>
        <p:nvSpPr>
          <p:cNvPr id="24" name="Shape 20"/>
          <p:cNvSpPr/>
          <p:nvPr/>
        </p:nvSpPr>
        <p:spPr>
          <a:xfrm>
            <a:off x="428625" y="3130302"/>
            <a:ext cx="28575" cy="690070"/>
          </a:xfrm>
          <a:prstGeom prst="rect">
            <a:avLst/>
          </a:prstGeom>
          <a:solidFill>
            <a:srgbClr val="FF4D4D"/>
          </a:solidFill>
          <a:ln/>
        </p:spPr>
      </p:sp>
      <p:sp>
        <p:nvSpPr>
          <p:cNvPr id="25" name="Text 21"/>
          <p:cNvSpPr/>
          <p:nvPr/>
        </p:nvSpPr>
        <p:spPr>
          <a:xfrm>
            <a:off x="535781" y="3237458"/>
            <a:ext cx="3014663" cy="121444"/>
          </a:xfrm>
          <a:prstGeom prst="rect">
            <a:avLst/>
          </a:prstGeom>
          <a:noFill/>
          <a:ln/>
        </p:spPr>
        <p:txBody>
          <a:bodyPr wrap="square" lIns="0" tIns="0" rIns="0" bIns="0" rtlCol="0" anchor="t">
            <a:spAutoFit/>
          </a:bodyPr>
          <a:lstStyle/>
          <a:p>
            <a:pPr algn="l" indent="0" marL="0">
              <a:buNone/>
            </a:pPr>
            <a:r>
              <a:rPr lang="en-US" sz="700" b="1" dirty="0">
                <a:solidFill>
                  <a:srgbClr val="FF4D4D"/>
                </a:solidFill>
                <a:latin typeface="Inter Black" pitchFamily="34" charset="0"/>
                <a:ea typeface="Inter Black" pitchFamily="34" charset="-122"/>
                <a:cs typeface="Inter Black" pitchFamily="34" charset="-120"/>
              </a:rPr>
              <a:t>HIGH-RISK BAND</a:t>
            </a:r>
            <a:endParaRPr lang="en-US" sz="700" dirty="0"/>
          </a:p>
        </p:txBody>
      </p:sp>
      <p:sp>
        <p:nvSpPr>
          <p:cNvPr id="26" name="Text 22"/>
          <p:cNvSpPr/>
          <p:nvPr/>
        </p:nvSpPr>
        <p:spPr>
          <a:xfrm>
            <a:off x="535781" y="3458914"/>
            <a:ext cx="3014663" cy="140001"/>
          </a:xfrm>
          <a:prstGeom prst="rect">
            <a:avLst/>
          </a:prstGeom>
          <a:noFill/>
          <a:ln/>
        </p:spPr>
        <p:txBody>
          <a:bodyPr wrap="none" lIns="0" tIns="0" rIns="0" bIns="0" rtlCol="0" anchor="t">
            <a:spAutoFit/>
          </a:bodyPr>
          <a:lstStyle/>
          <a:p>
            <a:pPr algn="l" indent="0" marL="0">
              <a:lnSpc>
                <a:spcPct val="112000"/>
              </a:lnSpc>
              <a:buNone/>
            </a:pPr>
            <a:r>
              <a:rPr lang="en-US" sz="750" dirty="0">
                <a:solidFill>
                  <a:srgbClr val="8892B0"/>
                </a:solidFill>
                <a:latin typeface="Inter" pitchFamily="34" charset="0"/>
                <a:ea typeface="Inter" pitchFamily="34" charset="-122"/>
                <a:cs typeface="Inter" pitchFamily="34" charset="-120"/>
              </a:rPr>
              <a:t>Smokers with BMI ≥ 30. Extreme compounding costs </a:t>
            </a:r>
            <a:r>
              <a:rPr lang="en-US" sz="750" dirty="0">
                <a:solidFill>
                  <a:srgbClr val="FF4D4D"/>
                </a:solidFill>
                <a:latin typeface="Inter" pitchFamily="34" charset="0"/>
                <a:ea typeface="Inter" pitchFamily="34" charset="-122"/>
                <a:cs typeface="Inter" pitchFamily="34" charset="-120"/>
              </a:rPr>
              <a:t>&gt; $30k</a:t>
            </a:r>
            <a:r>
              <a:rPr lang="en-US" sz="750" dirty="0">
                <a:solidFill>
                  <a:srgbClr val="8892B0"/>
                </a:solidFill>
                <a:latin typeface="Inter" pitchFamily="34" charset="0"/>
                <a:ea typeface="Inter" pitchFamily="34" charset="-122"/>
                <a:cs typeface="Inter" pitchFamily="34" charset="-120"/>
              </a:rPr>
              <a:t>.</a:t>
            </a:r>
            <a:endParaRPr lang="en-US" sz="750" dirty="0"/>
          </a:p>
        </p:txBody>
      </p:sp>
      <p:sp>
        <p:nvSpPr>
          <p:cNvPr id="27" name="Text 23"/>
          <p:cNvSpPr/>
          <p:nvPr/>
        </p:nvSpPr>
        <p:spPr>
          <a:xfrm>
            <a:off x="428625" y="3984678"/>
            <a:ext cx="3228975" cy="225028"/>
          </a:xfrm>
          <a:prstGeom prst="rect">
            <a:avLst/>
          </a:prstGeom>
          <a:noFill/>
          <a:ln/>
        </p:spPr>
        <p:txBody>
          <a:bodyPr wrap="square" lIns="0" tIns="0" rIns="0" bIns="0" rtlCol="0" anchor="t">
            <a:spAutoFit/>
          </a:bodyPr>
          <a:lstStyle/>
          <a:p>
            <a:pPr algn="l" indent="0" marL="0">
              <a:buNone/>
            </a:pPr>
            <a:r>
              <a:rPr lang="en-US" sz="650" i="1" dirty="0">
                <a:solidFill>
                  <a:srgbClr val="8892B0"/>
                </a:solidFill>
                <a:latin typeface="Inter" pitchFamily="34" charset="0"/>
                <a:ea typeface="Inter" pitchFamily="34" charset="-122"/>
                <a:cs typeface="Inter" pitchFamily="34" charset="-120"/>
              </a:rPr>
              <a:t>Visualized: Smoking and obesity interact to drive exponential cost increases.</a:t>
            </a:r>
            <a:endParaRPr lang="en-US" sz="650" dirty="0"/>
          </a:p>
        </p:txBody>
      </p:sp>
      <p:sp>
        <p:nvSpPr>
          <p:cNvPr id="28" name="Shape 24"/>
          <p:cNvSpPr/>
          <p:nvPr/>
        </p:nvSpPr>
        <p:spPr>
          <a:xfrm>
            <a:off x="3871913" y="1564425"/>
            <a:ext cx="4843463" cy="3514725"/>
          </a:xfrm>
          <a:prstGeom prst="rect">
            <a:avLst/>
          </a:prstGeom>
          <a:solidFill>
            <a:srgbClr val="112240"/>
          </a:solidFill>
          <a:ln w="9144">
            <a:solidFill>
              <a:srgbClr val="172A45"/>
            </a:solidFill>
            <a:prstDash val="solid"/>
          </a:ln>
        </p:spPr>
      </p:sp>
      <p:pic>
        <p:nvPicPr>
          <p:cNvPr id="29" name="Image 1" descr="preencoded.png">    </p:cNvPr>
          <p:cNvPicPr>
            <a:picLocks noChangeAspect="1"/>
          </p:cNvPicPr>
          <p:nvPr/>
        </p:nvPicPr>
        <p:blipFill>
          <a:blip r:embed="rId2"/>
          <a:stretch>
            <a:fillRect/>
          </a:stretch>
        </p:blipFill>
        <p:spPr>
          <a:xfrm>
            <a:off x="4014788" y="1707300"/>
            <a:ext cx="4543425" cy="321468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428625" y="515466"/>
            <a:ext cx="8715375" cy="414338"/>
          </a:xfrm>
          <a:prstGeom prst="rect">
            <a:avLst/>
          </a:prstGeom>
          <a:noFill/>
          <a:ln/>
        </p:spPr>
        <p:txBody>
          <a:bodyPr wrap="square" lIns="0" tIns="0" rIns="0" bIns="0" rtlCol="0" anchor="t">
            <a:spAutoFit/>
          </a:bodyPr>
          <a:lstStyle/>
          <a:p>
            <a:pPr algn="l" indent="0" marL="0">
              <a:buNone/>
            </a:pPr>
            <a:r>
              <a:rPr lang="en-US" sz="2450" b="1" dirty="0">
                <a:solidFill>
                  <a:srgbClr val="64FFDA"/>
                </a:solidFill>
                <a:latin typeface="Inter Black" pitchFamily="34" charset="0"/>
                <a:ea typeface="Inter Black" pitchFamily="34" charset="-122"/>
                <a:cs typeface="Inter Black" pitchFamily="34" charset="-120"/>
              </a:rPr>
              <a:t>CONCLUSION &amp; RECOMMENDATIONS</a:t>
            </a:r>
            <a:endParaRPr lang="en-US" sz="2450" dirty="0"/>
          </a:p>
        </p:txBody>
      </p:sp>
      <p:sp>
        <p:nvSpPr>
          <p:cNvPr id="5" name="Text 1"/>
          <p:cNvSpPr/>
          <p:nvPr/>
        </p:nvSpPr>
        <p:spPr>
          <a:xfrm>
            <a:off x="428625" y="1072093"/>
            <a:ext cx="8715375" cy="207169"/>
          </a:xfrm>
          <a:prstGeom prst="rect">
            <a:avLst/>
          </a:prstGeom>
          <a:noFill/>
          <a:ln/>
        </p:spPr>
        <p:txBody>
          <a:bodyPr wrap="square" lIns="0" tIns="0" rIns="0" bIns="0" rtlCol="0" anchor="t">
            <a:spAutoFit/>
          </a:bodyPr>
          <a:lstStyle/>
          <a:p>
            <a:pPr algn="l" indent="0" marL="0">
              <a:buNone/>
            </a:pPr>
            <a:r>
              <a:rPr lang="en-US" sz="1200" b="1" dirty="0">
                <a:solidFill>
                  <a:srgbClr val="8892B0"/>
                </a:solidFill>
                <a:latin typeface="Inter Bold" pitchFamily="34" charset="0"/>
                <a:ea typeface="Inter Bold" pitchFamily="34" charset="-122"/>
                <a:cs typeface="Inter Bold" pitchFamily="34" charset="-120"/>
              </a:rPr>
              <a:t>Data-Driven Strategic Business Decisions</a:t>
            </a:r>
            <a:endParaRPr lang="en-US" sz="1200" dirty="0"/>
          </a:p>
        </p:txBody>
      </p:sp>
      <p:sp>
        <p:nvSpPr>
          <p:cNvPr id="6" name="Shape 2"/>
          <p:cNvSpPr/>
          <p:nvPr/>
        </p:nvSpPr>
        <p:spPr>
          <a:xfrm>
            <a:off x="428625" y="1635863"/>
            <a:ext cx="4000500" cy="3371850"/>
          </a:xfrm>
          <a:prstGeom prst="rect">
            <a:avLst/>
          </a:prstGeom>
          <a:solidFill>
            <a:srgbClr val="112240"/>
          </a:solidFill>
          <a:ln w="9144">
            <a:solidFill>
              <a:srgbClr val="172A45"/>
            </a:solidFill>
            <a:prstDash val="solid"/>
          </a:ln>
        </p:spPr>
      </p:sp>
      <p:sp>
        <p:nvSpPr>
          <p:cNvPr id="7" name="Text 3"/>
          <p:cNvSpPr/>
          <p:nvPr/>
        </p:nvSpPr>
        <p:spPr>
          <a:xfrm>
            <a:off x="607219" y="1814457"/>
            <a:ext cx="3643313" cy="241102"/>
          </a:xfrm>
          <a:prstGeom prst="rect">
            <a:avLst/>
          </a:prstGeom>
          <a:noFill/>
          <a:ln/>
        </p:spPr>
        <p:txBody>
          <a:bodyPr wrap="square" lIns="0" tIns="0" rIns="0" bIns="85090" rtlCol="0" anchor="t">
            <a:spAutoFit/>
          </a:bodyPr>
          <a:lstStyle/>
          <a:p>
            <a:pPr algn="l" indent="0" marL="0">
              <a:buNone/>
            </a:pPr>
            <a:r>
              <a:rPr lang="en-US" sz="900" b="1" dirty="0">
                <a:solidFill>
                  <a:srgbClr val="64FFDA"/>
                </a:solidFill>
                <a:latin typeface="Inter Bold" pitchFamily="34" charset="0"/>
                <a:ea typeface="Inter Bold" pitchFamily="34" charset="-122"/>
                <a:cs typeface="Inter Bold" pitchFamily="34" charset="-120"/>
              </a:rPr>
              <a:t>KEY CONCLUSIONS</a:t>
            </a:r>
            <a:endParaRPr lang="en-US" sz="900" dirty="0"/>
          </a:p>
        </p:txBody>
      </p:sp>
      <p:sp>
        <p:nvSpPr>
          <p:cNvPr id="8" name="Text 4"/>
          <p:cNvSpPr/>
          <p:nvPr/>
        </p:nvSpPr>
        <p:spPr>
          <a:xfrm>
            <a:off x="607219" y="2198433"/>
            <a:ext cx="166092" cy="607219"/>
          </a:xfrm>
          <a:prstGeom prst="rect">
            <a:avLst/>
          </a:prstGeom>
          <a:noFill/>
          <a:ln/>
        </p:spPr>
        <p:txBody>
          <a:bodyPr wrap="none" lIns="0" tIns="0" rIns="0" bIns="0" rtlCol="0" anchor="t">
            <a:spAutoFit/>
          </a:bodyPr>
          <a:lstStyle/>
          <a:p>
            <a:pPr algn="l" indent="0" marL="0">
              <a:buNone/>
            </a:pPr>
            <a:r>
              <a:rPr lang="en-US" sz="1000" b="1" dirty="0">
                <a:solidFill>
                  <a:srgbClr val="64FFDA"/>
                </a:solidFill>
                <a:latin typeface="Inter Black" pitchFamily="34" charset="0"/>
                <a:ea typeface="Inter Black" pitchFamily="34" charset="-122"/>
                <a:cs typeface="Inter Black" pitchFamily="34" charset="-120"/>
              </a:rPr>
              <a:t>01</a:t>
            </a:r>
            <a:endParaRPr lang="en-US" sz="1000" dirty="0"/>
          </a:p>
        </p:txBody>
      </p:sp>
      <p:sp>
        <p:nvSpPr>
          <p:cNvPr id="9" name="Text 5"/>
          <p:cNvSpPr/>
          <p:nvPr/>
        </p:nvSpPr>
        <p:spPr>
          <a:xfrm>
            <a:off x="880467" y="2319877"/>
            <a:ext cx="3370064" cy="364331"/>
          </a:xfrm>
          <a:prstGeom prst="rect">
            <a:avLst/>
          </a:prstGeom>
          <a:noFill/>
          <a:ln/>
        </p:spPr>
        <p:txBody>
          <a:bodyPr wrap="square" lIns="0" tIns="0" rIns="0" bIns="0" rtlCol="0" anchor="t">
            <a:spAutoFit/>
          </a:bodyPr>
          <a:lstStyle/>
          <a:p>
            <a:pPr algn="l" indent="0" marL="0">
              <a:lnSpc>
                <a:spcPct val="120000"/>
              </a:lnSpc>
              <a:buNone/>
            </a:pPr>
            <a:r>
              <a:rPr lang="en-US" sz="850" b="1" dirty="0">
                <a:solidFill>
                  <a:srgbClr val="64FFDA"/>
                </a:solidFill>
                <a:latin typeface="Inter Bold" pitchFamily="34" charset="0"/>
                <a:ea typeface="Inter Bold" pitchFamily="34" charset="-122"/>
                <a:cs typeface="Inter Bold" pitchFamily="34" charset="-120"/>
              </a:rPr>
              <a:t>Primary Risk Factor:</a:t>
            </a:r>
            <a:r>
              <a:rPr lang="en-US" sz="900" dirty="0">
                <a:solidFill>
                  <a:srgbClr val="CCD6F6"/>
                </a:solidFill>
                <a:latin typeface="Inter" pitchFamily="34" charset="0"/>
                <a:ea typeface="Inter" pitchFamily="34" charset="-122"/>
                <a:cs typeface="Inter" pitchFamily="34" charset="-120"/>
              </a:rPr>
              <a:t> Smoking status is the #1 driver, </a:t>
            </a:r>
            <a:r>
              <a:rPr lang="en-US" sz="900" dirty="0">
                <a:solidFill>
                  <a:srgbClr val="CCD6F6"/>
                </a:solidFill>
                <a:latin typeface="Inter" pitchFamily="34" charset="0"/>
                <a:ea typeface="Inter" pitchFamily="34" charset="-122"/>
                <a:cs typeface="Inter" pitchFamily="34" charset="-120"/>
              </a:rPr>
              <a:t>resulting in </a:t>
            </a:r>
            <a:r>
              <a:rPr lang="en-US" sz="850" b="1" dirty="0">
                <a:solidFill>
                  <a:srgbClr val="64FFDA"/>
                </a:solidFill>
                <a:latin typeface="Inter Bold" pitchFamily="34" charset="0"/>
                <a:ea typeface="Inter Bold" pitchFamily="34" charset="-122"/>
                <a:cs typeface="Inter Bold" pitchFamily="34" charset="-120"/>
              </a:rPr>
              <a:t>3.8x higher</a:t>
            </a:r>
            <a:r>
              <a:rPr lang="en-US" sz="900" dirty="0">
                <a:solidFill>
                  <a:srgbClr val="CCD6F6"/>
                </a:solidFill>
                <a:latin typeface="Inter" pitchFamily="34" charset="0"/>
                <a:ea typeface="Inter" pitchFamily="34" charset="-122"/>
                <a:cs typeface="Inter" pitchFamily="34" charset="-120"/>
              </a:rPr>
              <a:t> baseline charges.</a:t>
            </a:r>
            <a:endParaRPr lang="en-US" sz="850" dirty="0"/>
          </a:p>
        </p:txBody>
      </p:sp>
      <p:sp>
        <p:nvSpPr>
          <p:cNvPr id="10" name="Text 6"/>
          <p:cNvSpPr/>
          <p:nvPr/>
        </p:nvSpPr>
        <p:spPr>
          <a:xfrm>
            <a:off x="607219" y="2948527"/>
            <a:ext cx="194667" cy="607219"/>
          </a:xfrm>
          <a:prstGeom prst="rect">
            <a:avLst/>
          </a:prstGeom>
          <a:noFill/>
          <a:ln/>
        </p:spPr>
        <p:txBody>
          <a:bodyPr wrap="none" lIns="0" tIns="0" rIns="0" bIns="0" rtlCol="0" anchor="t">
            <a:spAutoFit/>
          </a:bodyPr>
          <a:lstStyle/>
          <a:p>
            <a:pPr algn="l" indent="0" marL="0">
              <a:buNone/>
            </a:pPr>
            <a:r>
              <a:rPr lang="en-US" sz="1000" b="1" dirty="0">
                <a:solidFill>
                  <a:srgbClr val="64FFDA"/>
                </a:solidFill>
                <a:latin typeface="Inter Black" pitchFamily="34" charset="0"/>
                <a:ea typeface="Inter Black" pitchFamily="34" charset="-122"/>
                <a:cs typeface="Inter Black" pitchFamily="34" charset="-120"/>
              </a:rPr>
              <a:t>02</a:t>
            </a:r>
            <a:endParaRPr lang="en-US" sz="1000" dirty="0"/>
          </a:p>
        </p:txBody>
      </p:sp>
      <p:sp>
        <p:nvSpPr>
          <p:cNvPr id="11" name="Text 7"/>
          <p:cNvSpPr/>
          <p:nvPr/>
        </p:nvSpPr>
        <p:spPr>
          <a:xfrm>
            <a:off x="909042" y="3069971"/>
            <a:ext cx="3341489" cy="364331"/>
          </a:xfrm>
          <a:prstGeom prst="rect">
            <a:avLst/>
          </a:prstGeom>
          <a:noFill/>
          <a:ln/>
        </p:spPr>
        <p:txBody>
          <a:bodyPr wrap="square" lIns="0" tIns="0" rIns="0" bIns="0" rtlCol="0" anchor="t">
            <a:spAutoFit/>
          </a:bodyPr>
          <a:lstStyle/>
          <a:p>
            <a:pPr algn="l" indent="0" marL="0">
              <a:lnSpc>
                <a:spcPct val="120000"/>
              </a:lnSpc>
              <a:buNone/>
            </a:pPr>
            <a:r>
              <a:rPr lang="en-US" sz="850" b="1" dirty="0">
                <a:solidFill>
                  <a:srgbClr val="64FFDA"/>
                </a:solidFill>
                <a:latin typeface="Inter Bold" pitchFamily="34" charset="0"/>
                <a:ea typeface="Inter Bold" pitchFamily="34" charset="-122"/>
                <a:cs typeface="Inter Bold" pitchFamily="34" charset="-120"/>
              </a:rPr>
              <a:t>Model Robustness:</a:t>
            </a:r>
            <a:r>
              <a:rPr lang="en-US" sz="900" dirty="0">
                <a:solidFill>
                  <a:srgbClr val="CCD6F6"/>
                </a:solidFill>
                <a:latin typeface="Inter" pitchFamily="34" charset="0"/>
                <a:ea typeface="Inter" pitchFamily="34" charset="-122"/>
                <a:cs typeface="Inter" pitchFamily="34" charset="-120"/>
              </a:rPr>
              <a:t> The Multiple Linear Regression </a:t>
            </a:r>
            <a:r>
              <a:rPr lang="en-US" sz="900" dirty="0">
                <a:solidFill>
                  <a:srgbClr val="CCD6F6"/>
                </a:solidFill>
                <a:latin typeface="Inter" pitchFamily="34" charset="0"/>
                <a:ea typeface="Inter" pitchFamily="34" charset="-122"/>
                <a:cs typeface="Inter" pitchFamily="34" charset="-120"/>
              </a:rPr>
              <a:t>model explains </a:t>
            </a:r>
            <a:r>
              <a:rPr lang="en-US" sz="850" b="1" dirty="0">
                <a:solidFill>
                  <a:srgbClr val="64FFDA"/>
                </a:solidFill>
                <a:latin typeface="Inter Bold" pitchFamily="34" charset="0"/>
                <a:ea typeface="Inter Bold" pitchFamily="34" charset="-122"/>
                <a:cs typeface="Inter Bold" pitchFamily="34" charset="-120"/>
              </a:rPr>
              <a:t>78.3%</a:t>
            </a:r>
            <a:r>
              <a:rPr lang="en-US" sz="900" dirty="0">
                <a:solidFill>
                  <a:srgbClr val="CCD6F6"/>
                </a:solidFill>
                <a:latin typeface="Inter" pitchFamily="34" charset="0"/>
                <a:ea typeface="Inter" pitchFamily="34" charset="-122"/>
                <a:cs typeface="Inter" pitchFamily="34" charset="-120"/>
              </a:rPr>
              <a:t> of total premium variance.</a:t>
            </a:r>
            <a:endParaRPr lang="en-US" sz="850" dirty="0"/>
          </a:p>
        </p:txBody>
      </p:sp>
      <p:sp>
        <p:nvSpPr>
          <p:cNvPr id="12" name="Text 8"/>
          <p:cNvSpPr/>
          <p:nvPr/>
        </p:nvSpPr>
        <p:spPr>
          <a:xfrm>
            <a:off x="607219" y="3698621"/>
            <a:ext cx="198239" cy="607219"/>
          </a:xfrm>
          <a:prstGeom prst="rect">
            <a:avLst/>
          </a:prstGeom>
          <a:noFill/>
          <a:ln/>
        </p:spPr>
        <p:txBody>
          <a:bodyPr wrap="none" lIns="0" tIns="0" rIns="0" bIns="0" rtlCol="0" anchor="t">
            <a:spAutoFit/>
          </a:bodyPr>
          <a:lstStyle/>
          <a:p>
            <a:pPr algn="l" indent="0" marL="0">
              <a:buNone/>
            </a:pPr>
            <a:r>
              <a:rPr lang="en-US" sz="1000" b="1" dirty="0">
                <a:solidFill>
                  <a:srgbClr val="64FFDA"/>
                </a:solidFill>
                <a:latin typeface="Inter Black" pitchFamily="34" charset="0"/>
                <a:ea typeface="Inter Black" pitchFamily="34" charset="-122"/>
                <a:cs typeface="Inter Black" pitchFamily="34" charset="-120"/>
              </a:rPr>
              <a:t>03</a:t>
            </a:r>
            <a:endParaRPr lang="en-US" sz="1000" dirty="0"/>
          </a:p>
        </p:txBody>
      </p:sp>
      <p:sp>
        <p:nvSpPr>
          <p:cNvPr id="13" name="Text 9"/>
          <p:cNvSpPr/>
          <p:nvPr/>
        </p:nvSpPr>
        <p:spPr>
          <a:xfrm>
            <a:off x="912614" y="3820065"/>
            <a:ext cx="3337917" cy="364331"/>
          </a:xfrm>
          <a:prstGeom prst="rect">
            <a:avLst/>
          </a:prstGeom>
          <a:noFill/>
          <a:ln/>
        </p:spPr>
        <p:txBody>
          <a:bodyPr wrap="square" lIns="0" tIns="0" rIns="0" bIns="0" rtlCol="0" anchor="t">
            <a:spAutoFit/>
          </a:bodyPr>
          <a:lstStyle/>
          <a:p>
            <a:pPr algn="l" indent="0" marL="0">
              <a:lnSpc>
                <a:spcPct val="120000"/>
              </a:lnSpc>
              <a:buNone/>
            </a:pPr>
            <a:r>
              <a:rPr lang="en-US" sz="850" b="1" dirty="0">
                <a:solidFill>
                  <a:srgbClr val="64FFDA"/>
                </a:solidFill>
                <a:latin typeface="Inter Bold" pitchFamily="34" charset="0"/>
                <a:ea typeface="Inter Bold" pitchFamily="34" charset="-122"/>
                <a:cs typeface="Inter Bold" pitchFamily="34" charset="-120"/>
              </a:rPr>
              <a:t>Risk Interactions:</a:t>
            </a:r>
            <a:r>
              <a:rPr lang="en-US" sz="900" dirty="0">
                <a:solidFill>
                  <a:srgbClr val="CCD6F6"/>
                </a:solidFill>
                <a:latin typeface="Inter" pitchFamily="34" charset="0"/>
                <a:ea typeface="Inter" pitchFamily="34" charset="-122"/>
                <a:cs typeface="Inter" pitchFamily="34" charset="-120"/>
              </a:rPr>
              <a:t> High BMI and Smoking exhibit </a:t>
            </a:r>
            <a:r>
              <a:rPr lang="en-US" sz="900" dirty="0">
                <a:solidFill>
                  <a:srgbClr val="CCD6F6"/>
                </a:solidFill>
                <a:latin typeface="Inter" pitchFamily="34" charset="0"/>
                <a:ea typeface="Inter" pitchFamily="34" charset="-122"/>
                <a:cs typeface="Inter" pitchFamily="34" charset="-120"/>
              </a:rPr>
              <a:t>significant compounding effects on claim severity.</a:t>
            </a:r>
            <a:endParaRPr lang="en-US" sz="850" dirty="0"/>
          </a:p>
        </p:txBody>
      </p:sp>
      <p:sp>
        <p:nvSpPr>
          <p:cNvPr id="14" name="Shape 10"/>
          <p:cNvSpPr/>
          <p:nvPr/>
        </p:nvSpPr>
        <p:spPr>
          <a:xfrm>
            <a:off x="4714875" y="1635863"/>
            <a:ext cx="4000500" cy="3371850"/>
          </a:xfrm>
          <a:prstGeom prst="rect">
            <a:avLst/>
          </a:prstGeom>
          <a:solidFill>
            <a:srgbClr val="112240"/>
          </a:solidFill>
          <a:ln w="9144">
            <a:solidFill>
              <a:srgbClr val="10B981"/>
            </a:solidFill>
            <a:prstDash val="solid"/>
          </a:ln>
        </p:spPr>
      </p:sp>
      <p:sp>
        <p:nvSpPr>
          <p:cNvPr id="15" name="Text 11"/>
          <p:cNvSpPr/>
          <p:nvPr/>
        </p:nvSpPr>
        <p:spPr>
          <a:xfrm>
            <a:off x="4893469" y="1814457"/>
            <a:ext cx="3643313" cy="241102"/>
          </a:xfrm>
          <a:prstGeom prst="rect">
            <a:avLst/>
          </a:prstGeom>
          <a:noFill/>
          <a:ln/>
        </p:spPr>
        <p:txBody>
          <a:bodyPr wrap="square" lIns="0" tIns="0" rIns="0" bIns="85090" rtlCol="0" anchor="t">
            <a:spAutoFit/>
          </a:bodyPr>
          <a:lstStyle/>
          <a:p>
            <a:pPr algn="l" indent="0" marL="0">
              <a:buNone/>
            </a:pPr>
            <a:r>
              <a:rPr lang="en-US" sz="900" b="1" dirty="0">
                <a:solidFill>
                  <a:srgbClr val="10B981"/>
                </a:solidFill>
                <a:latin typeface="Inter Bold" pitchFamily="34" charset="0"/>
                <a:ea typeface="Inter Bold" pitchFamily="34" charset="-122"/>
                <a:cs typeface="Inter Bold" pitchFamily="34" charset="-120"/>
              </a:rPr>
              <a:t>BUSINESS STRATEGY</a:t>
            </a:r>
            <a:endParaRPr lang="en-US" sz="900" dirty="0"/>
          </a:p>
        </p:txBody>
      </p:sp>
      <p:sp>
        <p:nvSpPr>
          <p:cNvPr id="16" name="Text 12"/>
          <p:cNvSpPr/>
          <p:nvPr/>
        </p:nvSpPr>
        <p:spPr>
          <a:xfrm>
            <a:off x="4893469" y="2198433"/>
            <a:ext cx="119658" cy="607219"/>
          </a:xfrm>
          <a:prstGeom prst="rect">
            <a:avLst/>
          </a:prstGeom>
          <a:noFill/>
          <a:ln/>
        </p:spPr>
        <p:txBody>
          <a:bodyPr wrap="none" lIns="0" tIns="0" rIns="0" bIns="0" rtlCol="0" anchor="t">
            <a:spAutoFit/>
          </a:bodyPr>
          <a:lstStyle/>
          <a:p>
            <a:pPr algn="l" indent="0" marL="0">
              <a:buNone/>
            </a:pPr>
            <a:r>
              <a:rPr lang="en-US" sz="1000" b="1" dirty="0">
                <a:solidFill>
                  <a:srgbClr val="10B981"/>
                </a:solidFill>
                <a:latin typeface="Inter Black" pitchFamily="34" charset="0"/>
                <a:ea typeface="Inter Black" pitchFamily="34" charset="-122"/>
                <a:cs typeface="Inter Black" pitchFamily="34" charset="-120"/>
              </a:rPr>
              <a:t>✓</a:t>
            </a:r>
            <a:endParaRPr lang="en-US" sz="1000" dirty="0"/>
          </a:p>
        </p:txBody>
      </p:sp>
      <p:sp>
        <p:nvSpPr>
          <p:cNvPr id="17" name="Text 13"/>
          <p:cNvSpPr/>
          <p:nvPr/>
        </p:nvSpPr>
        <p:spPr>
          <a:xfrm>
            <a:off x="5120283" y="2319877"/>
            <a:ext cx="3416498" cy="364331"/>
          </a:xfrm>
          <a:prstGeom prst="rect">
            <a:avLst/>
          </a:prstGeom>
          <a:noFill/>
          <a:ln/>
        </p:spPr>
        <p:txBody>
          <a:bodyPr wrap="square" lIns="0" tIns="0" rIns="0" bIns="0" rtlCol="0" anchor="t">
            <a:spAutoFit/>
          </a:bodyPr>
          <a:lstStyle/>
          <a:p>
            <a:pPr algn="l" indent="0" marL="0">
              <a:lnSpc>
                <a:spcPct val="120000"/>
              </a:lnSpc>
              <a:buNone/>
            </a:pPr>
            <a:r>
              <a:rPr lang="en-US" sz="900" dirty="0">
                <a:solidFill>
                  <a:srgbClr val="CCD6F6"/>
                </a:solidFill>
                <a:latin typeface="Inter" pitchFamily="34" charset="0"/>
                <a:ea typeface="Inter" pitchFamily="34" charset="-122"/>
                <a:cs typeface="Inter" pitchFamily="34" charset="-120"/>
              </a:rPr>
              <a:t>Implement </a:t>
            </a:r>
            <a:r>
              <a:rPr lang="en-US" sz="900" dirty="0">
                <a:solidFill>
                  <a:srgbClr val="10B981"/>
                </a:solidFill>
                <a:latin typeface="Inter" pitchFamily="34" charset="0"/>
                <a:ea typeface="Inter" pitchFamily="34" charset="-122"/>
                <a:cs typeface="Inter" pitchFamily="34" charset="-120"/>
              </a:rPr>
              <a:t>Tiered Pricing Surcharges</a:t>
            </a:r>
            <a:r>
              <a:rPr lang="en-US" sz="900" dirty="0">
                <a:solidFill>
                  <a:srgbClr val="CCD6F6"/>
                </a:solidFill>
                <a:latin typeface="Inter" pitchFamily="34" charset="0"/>
                <a:ea typeface="Inter" pitchFamily="34" charset="-122"/>
                <a:cs typeface="Inter" pitchFamily="34" charset="-120"/>
              </a:rPr>
              <a:t> specifically targeting </a:t>
            </a:r>
            <a:r>
              <a:rPr lang="en-US" sz="900" dirty="0">
                <a:solidFill>
                  <a:srgbClr val="CCD6F6"/>
                </a:solidFill>
                <a:latin typeface="Inter" pitchFamily="34" charset="0"/>
                <a:ea typeface="Inter" pitchFamily="34" charset="-122"/>
                <a:cs typeface="Inter" pitchFamily="34" charset="-120"/>
              </a:rPr>
              <a:t>high-risk smoking demographics.</a:t>
            </a:r>
            <a:endParaRPr lang="en-US" sz="900" dirty="0"/>
          </a:p>
        </p:txBody>
      </p:sp>
      <p:sp>
        <p:nvSpPr>
          <p:cNvPr id="18" name="Text 14"/>
          <p:cNvSpPr/>
          <p:nvPr/>
        </p:nvSpPr>
        <p:spPr>
          <a:xfrm>
            <a:off x="4893469" y="2948527"/>
            <a:ext cx="119658" cy="607219"/>
          </a:xfrm>
          <a:prstGeom prst="rect">
            <a:avLst/>
          </a:prstGeom>
          <a:noFill/>
          <a:ln/>
        </p:spPr>
        <p:txBody>
          <a:bodyPr wrap="none" lIns="0" tIns="0" rIns="0" bIns="0" rtlCol="0" anchor="t">
            <a:spAutoFit/>
          </a:bodyPr>
          <a:lstStyle/>
          <a:p>
            <a:pPr algn="l" indent="0" marL="0">
              <a:buNone/>
            </a:pPr>
            <a:r>
              <a:rPr lang="en-US" sz="1000" b="1" dirty="0">
                <a:solidFill>
                  <a:srgbClr val="10B981"/>
                </a:solidFill>
                <a:latin typeface="Inter Black" pitchFamily="34" charset="0"/>
                <a:ea typeface="Inter Black" pitchFamily="34" charset="-122"/>
                <a:cs typeface="Inter Black" pitchFamily="34" charset="-120"/>
              </a:rPr>
              <a:t>✓</a:t>
            </a:r>
            <a:endParaRPr lang="en-US" sz="1000" dirty="0"/>
          </a:p>
        </p:txBody>
      </p:sp>
      <p:sp>
        <p:nvSpPr>
          <p:cNvPr id="19" name="Text 15"/>
          <p:cNvSpPr/>
          <p:nvPr/>
        </p:nvSpPr>
        <p:spPr>
          <a:xfrm>
            <a:off x="5120283" y="3069971"/>
            <a:ext cx="3416498" cy="364331"/>
          </a:xfrm>
          <a:prstGeom prst="rect">
            <a:avLst/>
          </a:prstGeom>
          <a:noFill/>
          <a:ln/>
        </p:spPr>
        <p:txBody>
          <a:bodyPr wrap="square" lIns="0" tIns="0" rIns="0" bIns="0" rtlCol="0" anchor="t">
            <a:spAutoFit/>
          </a:bodyPr>
          <a:lstStyle/>
          <a:p>
            <a:pPr algn="l" indent="0" marL="0">
              <a:lnSpc>
                <a:spcPct val="120000"/>
              </a:lnSpc>
              <a:buNone/>
            </a:pPr>
            <a:r>
              <a:rPr lang="en-US" sz="900" dirty="0">
                <a:solidFill>
                  <a:srgbClr val="CCD6F6"/>
                </a:solidFill>
                <a:latin typeface="Inter" pitchFamily="34" charset="0"/>
                <a:ea typeface="Inter" pitchFamily="34" charset="-122"/>
                <a:cs typeface="Inter" pitchFamily="34" charset="-120"/>
              </a:rPr>
              <a:t>Establish </a:t>
            </a:r>
            <a:r>
              <a:rPr lang="en-US" sz="900" dirty="0">
                <a:solidFill>
                  <a:srgbClr val="10B981"/>
                </a:solidFill>
                <a:latin typeface="Inter" pitchFamily="34" charset="0"/>
                <a:ea typeface="Inter" pitchFamily="34" charset="-122"/>
                <a:cs typeface="Inter" pitchFamily="34" charset="-120"/>
              </a:rPr>
              <a:t>Premium Escalation Pathways</a:t>
            </a:r>
            <a:r>
              <a:rPr lang="en-US" sz="900" dirty="0">
                <a:solidFill>
                  <a:srgbClr val="CCD6F6"/>
                </a:solidFill>
                <a:latin typeface="Inter" pitchFamily="34" charset="0"/>
                <a:ea typeface="Inter" pitchFamily="34" charset="-122"/>
                <a:cs typeface="Inter" pitchFamily="34" charset="-120"/>
              </a:rPr>
              <a:t> based on age-risk </a:t>
            </a:r>
            <a:r>
              <a:rPr lang="en-US" sz="900" dirty="0">
                <a:solidFill>
                  <a:srgbClr val="CCD6F6"/>
                </a:solidFill>
                <a:latin typeface="Inter" pitchFamily="34" charset="0"/>
                <a:ea typeface="Inter" pitchFamily="34" charset="-122"/>
                <a:cs typeface="Inter" pitchFamily="34" charset="-120"/>
              </a:rPr>
              <a:t>bands and BMI thresholds.</a:t>
            </a:r>
            <a:endParaRPr lang="en-US" sz="900" dirty="0"/>
          </a:p>
        </p:txBody>
      </p:sp>
      <p:sp>
        <p:nvSpPr>
          <p:cNvPr id="20" name="Text 16"/>
          <p:cNvSpPr/>
          <p:nvPr/>
        </p:nvSpPr>
        <p:spPr>
          <a:xfrm>
            <a:off x="4893469" y="3698621"/>
            <a:ext cx="119658" cy="607219"/>
          </a:xfrm>
          <a:prstGeom prst="rect">
            <a:avLst/>
          </a:prstGeom>
          <a:noFill/>
          <a:ln/>
        </p:spPr>
        <p:txBody>
          <a:bodyPr wrap="none" lIns="0" tIns="0" rIns="0" bIns="0" rtlCol="0" anchor="t">
            <a:spAutoFit/>
          </a:bodyPr>
          <a:lstStyle/>
          <a:p>
            <a:pPr algn="l" indent="0" marL="0">
              <a:buNone/>
            </a:pPr>
            <a:r>
              <a:rPr lang="en-US" sz="1000" b="1" dirty="0">
                <a:solidFill>
                  <a:srgbClr val="10B981"/>
                </a:solidFill>
                <a:latin typeface="Inter Black" pitchFamily="34" charset="0"/>
                <a:ea typeface="Inter Black" pitchFamily="34" charset="-122"/>
                <a:cs typeface="Inter Black" pitchFamily="34" charset="-120"/>
              </a:rPr>
              <a:t>✓</a:t>
            </a:r>
            <a:endParaRPr lang="en-US" sz="1000" dirty="0"/>
          </a:p>
        </p:txBody>
      </p:sp>
      <p:sp>
        <p:nvSpPr>
          <p:cNvPr id="21" name="Text 17"/>
          <p:cNvSpPr/>
          <p:nvPr/>
        </p:nvSpPr>
        <p:spPr>
          <a:xfrm>
            <a:off x="5120283" y="3820065"/>
            <a:ext cx="3416498" cy="364331"/>
          </a:xfrm>
          <a:prstGeom prst="rect">
            <a:avLst/>
          </a:prstGeom>
          <a:noFill/>
          <a:ln/>
        </p:spPr>
        <p:txBody>
          <a:bodyPr wrap="square" lIns="0" tIns="0" rIns="0" bIns="0" rtlCol="0" anchor="t">
            <a:spAutoFit/>
          </a:bodyPr>
          <a:lstStyle/>
          <a:p>
            <a:pPr algn="l" indent="0" marL="0">
              <a:lnSpc>
                <a:spcPct val="120000"/>
              </a:lnSpc>
              <a:buNone/>
            </a:pPr>
            <a:r>
              <a:rPr lang="en-US" sz="900" dirty="0">
                <a:solidFill>
                  <a:srgbClr val="CCD6F6"/>
                </a:solidFill>
                <a:latin typeface="Inter" pitchFamily="34" charset="0"/>
                <a:ea typeface="Inter" pitchFamily="34" charset="-122"/>
                <a:cs typeface="Inter" pitchFamily="34" charset="-120"/>
              </a:rPr>
              <a:t>Introduce </a:t>
            </a:r>
            <a:r>
              <a:rPr lang="en-US" sz="900" dirty="0">
                <a:solidFill>
                  <a:srgbClr val="10B981"/>
                </a:solidFill>
                <a:latin typeface="Inter" pitchFamily="34" charset="0"/>
                <a:ea typeface="Inter" pitchFamily="34" charset="-122"/>
                <a:cs typeface="Inter" pitchFamily="34" charset="-120"/>
              </a:rPr>
              <a:t>Wellness Incentives</a:t>
            </a:r>
            <a:r>
              <a:rPr lang="en-US" sz="900" dirty="0">
                <a:solidFill>
                  <a:srgbClr val="CCD6F6"/>
                </a:solidFill>
                <a:latin typeface="Inter" pitchFamily="34" charset="0"/>
                <a:ea typeface="Inter" pitchFamily="34" charset="-122"/>
                <a:cs typeface="Inter" pitchFamily="34" charset="-120"/>
              </a:rPr>
              <a:t> and BMI reduction programs </a:t>
            </a:r>
            <a:r>
              <a:rPr lang="en-US" sz="900" dirty="0">
                <a:solidFill>
                  <a:srgbClr val="CCD6F6"/>
                </a:solidFill>
                <a:latin typeface="Inter" pitchFamily="34" charset="0"/>
                <a:ea typeface="Inter" pitchFamily="34" charset="-122"/>
                <a:cs typeface="Inter" pitchFamily="34" charset="-120"/>
              </a:rPr>
              <a:t>to mitigate long-term claim risks.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1000125" y="1316794"/>
            <a:ext cx="7143750" cy="1037630"/>
          </a:xfrm>
          <a:prstGeom prst="rect">
            <a:avLst/>
          </a:prstGeom>
          <a:noFill/>
          <a:ln/>
        </p:spPr>
        <p:txBody>
          <a:bodyPr wrap="square" lIns="0" tIns="0" rIns="0" bIns="0" rtlCol="0" anchor="t">
            <a:spAutoFit/>
          </a:bodyPr>
          <a:lstStyle/>
          <a:p>
            <a:pPr algn="ctr" indent="0" marL="0">
              <a:buNone/>
            </a:pPr>
            <a:r>
              <a:rPr lang="en-US" sz="6200" b="1" spc="-3" kern="0" dirty="0">
                <a:solidFill>
                  <a:srgbClr val="64FFDA"/>
                </a:solidFill>
                <a:latin typeface="Inter Black" pitchFamily="34" charset="0"/>
                <a:ea typeface="Inter Black" pitchFamily="34" charset="-122"/>
                <a:cs typeface="Inter Black" pitchFamily="34" charset="-120"/>
              </a:rPr>
              <a:t>Thank You!</a:t>
            </a:r>
            <a:endParaRPr lang="en-US" sz="6200" dirty="0"/>
          </a:p>
        </p:txBody>
      </p:sp>
      <p:sp>
        <p:nvSpPr>
          <p:cNvPr id="5" name="Text 1"/>
          <p:cNvSpPr/>
          <p:nvPr/>
        </p:nvSpPr>
        <p:spPr>
          <a:xfrm>
            <a:off x="1000125" y="2520432"/>
            <a:ext cx="7143750" cy="242888"/>
          </a:xfrm>
          <a:prstGeom prst="rect">
            <a:avLst/>
          </a:prstGeom>
          <a:noFill/>
          <a:ln/>
        </p:spPr>
        <p:txBody>
          <a:bodyPr wrap="square" lIns="0" tIns="0" rIns="0" bIns="0" rtlCol="0" anchor="t">
            <a:spAutoFit/>
          </a:bodyPr>
          <a:lstStyle/>
          <a:p>
            <a:pPr algn="ctr" indent="0" marL="0">
              <a:buNone/>
            </a:pPr>
            <a:r>
              <a:rPr lang="en-US" sz="1400" b="1" spc="3" kern="0" dirty="0">
                <a:solidFill>
                  <a:srgbClr val="8892B0"/>
                </a:solidFill>
                <a:latin typeface="Inter Bold" pitchFamily="34" charset="0"/>
                <a:ea typeface="Inter Bold" pitchFamily="34" charset="-122"/>
                <a:cs typeface="Inter Bold" pitchFamily="34" charset="-120"/>
              </a:rPr>
              <a:t>INSURANCE CLAIM ANALYSIS | MDSA CAPSTONE</a:t>
            </a:r>
            <a:endParaRPr lang="en-US" sz="1400" dirty="0"/>
          </a:p>
        </p:txBody>
      </p:sp>
      <p:sp>
        <p:nvSpPr>
          <p:cNvPr id="6" name="Text 2"/>
          <p:cNvSpPr/>
          <p:nvPr/>
        </p:nvSpPr>
        <p:spPr>
          <a:xfrm>
            <a:off x="1000125" y="3191945"/>
            <a:ext cx="7143750" cy="207169"/>
          </a:xfrm>
          <a:prstGeom prst="rect">
            <a:avLst/>
          </a:prstGeom>
          <a:noFill/>
          <a:ln/>
        </p:spPr>
        <p:txBody>
          <a:bodyPr wrap="square" lIns="0" tIns="0" rIns="0" bIns="0" rtlCol="0" anchor="t">
            <a:spAutoFit/>
          </a:bodyPr>
          <a:lstStyle/>
          <a:p>
            <a:pPr algn="ctr" indent="0" marL="0">
              <a:buNone/>
            </a:pPr>
            <a:r>
              <a:rPr lang="en-US" sz="1250" dirty="0">
                <a:solidFill>
                  <a:srgbClr val="FFFFFF"/>
                </a:solidFill>
                <a:latin typeface="Inter" pitchFamily="34" charset="0"/>
                <a:ea typeface="Inter" pitchFamily="34" charset="-122"/>
                <a:cs typeface="Inter" pitchFamily="34" charset="-120"/>
              </a:rPr>
              <a:t>tejaswinamara@klh.edu.in</a:t>
            </a:r>
            <a:endParaRPr lang="en-US" sz="1250" dirty="0"/>
          </a:p>
        </p:txBody>
      </p:sp>
      <p:sp>
        <p:nvSpPr>
          <p:cNvPr id="7" name="Text 3"/>
          <p:cNvSpPr/>
          <p:nvPr/>
        </p:nvSpPr>
        <p:spPr>
          <a:xfrm>
            <a:off x="1807369" y="4263507"/>
            <a:ext cx="2389584" cy="137517"/>
          </a:xfrm>
          <a:prstGeom prst="rect">
            <a:avLst/>
          </a:prstGeom>
          <a:noFill/>
          <a:ln/>
        </p:spPr>
        <p:txBody>
          <a:bodyPr wrap="square" lIns="0" tIns="0" rIns="0" bIns="0" rtlCol="0" anchor="t">
            <a:spAutoFit/>
          </a:bodyPr>
          <a:lstStyle/>
          <a:p>
            <a:pPr algn="ctr" indent="0" marL="0">
              <a:buNone/>
            </a:pPr>
            <a:r>
              <a:rPr lang="en-US" sz="800" b="1" dirty="0">
                <a:solidFill>
                  <a:srgbClr val="64FFDA"/>
                </a:solidFill>
                <a:latin typeface="Inter Bold" pitchFamily="34" charset="0"/>
                <a:ea typeface="Inter Bold" pitchFamily="34" charset="-122"/>
                <a:cs typeface="Inter Bold" pitchFamily="34" charset="-120"/>
              </a:rPr>
              <a:t>Repository:</a:t>
            </a:r>
            <a:r>
              <a:rPr lang="en-US" sz="850" dirty="0">
                <a:solidFill>
                  <a:srgbClr val="8892B0"/>
                </a:solidFill>
                <a:latin typeface="Inter" pitchFamily="34" charset="0"/>
                <a:ea typeface="Inter" pitchFamily="34" charset="-122"/>
                <a:cs typeface="Inter" pitchFamily="34" charset="-120"/>
              </a:rPr>
              <a:t> Project MDSA-Capstone-2026</a:t>
            </a:r>
            <a:endParaRPr lang="en-US" sz="850" dirty="0"/>
          </a:p>
        </p:txBody>
      </p:sp>
      <p:sp>
        <p:nvSpPr>
          <p:cNvPr id="8" name="Text 4"/>
          <p:cNvSpPr/>
          <p:nvPr/>
        </p:nvSpPr>
        <p:spPr>
          <a:xfrm>
            <a:off x="4625578" y="4263507"/>
            <a:ext cx="2711053" cy="137517"/>
          </a:xfrm>
          <a:prstGeom prst="rect">
            <a:avLst/>
          </a:prstGeom>
          <a:noFill/>
          <a:ln/>
        </p:spPr>
        <p:txBody>
          <a:bodyPr wrap="square" lIns="0" tIns="0" rIns="0" bIns="0" rtlCol="0" anchor="t">
            <a:spAutoFit/>
          </a:bodyPr>
          <a:lstStyle/>
          <a:p>
            <a:pPr algn="ctr" indent="0" marL="0">
              <a:buNone/>
            </a:pPr>
            <a:r>
              <a:rPr lang="en-US" sz="800" b="1" dirty="0">
                <a:solidFill>
                  <a:srgbClr val="64FFDA"/>
                </a:solidFill>
                <a:latin typeface="Inter Bold" pitchFamily="34" charset="0"/>
                <a:ea typeface="Inter Bold" pitchFamily="34" charset="-122"/>
                <a:cs typeface="Inter Bold" pitchFamily="34" charset="-120"/>
              </a:rPr>
              <a:t>University:</a:t>
            </a:r>
            <a:r>
              <a:rPr lang="en-US" sz="850" dirty="0">
                <a:solidFill>
                  <a:srgbClr val="8892B0"/>
                </a:solidFill>
                <a:latin typeface="Inter" pitchFamily="34" charset="0"/>
                <a:ea typeface="Inter" pitchFamily="34" charset="-122"/>
                <a:cs typeface="Inter" pitchFamily="34" charset="-120"/>
              </a:rPr>
              <a:t> KLH University (Bachupally Campus)</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2026-06-16T16:16:35Z</dcterms:created>
  <dcterms:modified xsi:type="dcterms:W3CDTF">2026-06-16T16:16:35Z</dcterms:modified>
</cp:coreProperties>
</file>