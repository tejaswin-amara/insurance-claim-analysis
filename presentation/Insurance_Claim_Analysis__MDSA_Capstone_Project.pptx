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400">
                <a:solidFill>
                  <a:srgbClr val="00FFFF"/>
                </a:solidFill>
              </a:defRPr>
            </a:pPr>
            <a:r>
              <a:t>Insurance Claim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MDSA Capstone Project | Mathematics for Data Science and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ECC71"/>
                </a:solidFill>
              </a:defRPr>
            </a:pPr>
            <a:r>
              <a:t>Coverage: Course Outcomes CO1 - CO6 | Dataset: Kaggle Insurance Dataset (1,338 records)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Objectives &amp; Problem Statement: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Analyze medical charges and identify key risk factors driving insurance claims.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Insurance companies must understand drivers of medical costs to price premiums accurately.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Approach &amp; Tools: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Systematic application of statistical and machine learning methodologies across 6 Course Outcomes (CO1-CO6).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Tools Used: Python, Pandas, NumPy, SciPy, Scikit-learn, Matplotlib, Seaborn.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Feature Description: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age: Age of primary beneficiary (18-64 years)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sex: Gender of beneficiary (male, female)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bmi: Body Mass Index (15.96 to 53.13)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children: Number of dependents/children (0-5)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smoker: Smoking status (yes, no)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region: Beneficiary's residential region in the US (4 regions)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charges: Individual medical costs billed by health insurance ($1,121.87 to $63,770.43)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Summary: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1,338 rows, 7 columns. 0 missing values. 1 duplicate record removed.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Course Outcome Mapping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FFFFFF"/>
                </a:solidFill>
              </a:defRPr>
            </a:pPr>
            <a:r>
              <a:t>• CO1: Data Understanding &amp; Preprocessing (Handling missing data, duplicate removal, IQR-based outlier detection)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CO2: Descriptive Statistics (Measures of central tendency, dispersion, shape)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CO3: Probability &amp; Distributions (Conditional probability, Bayes' Theorem, Normal distributions)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CO4: Statistical Inference (Central Limit Theorem, 95% CI, Two-Sample t-Test)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CO5: Correlation &amp; Regression (Covariance analysis, Pearson correlation coefficients, Simple Linear Regression)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CO6: Evaluation, Visualization &amp; Decision Making (Multiple Linear Regression, R², RMSE, business recommendations)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828800" y="2286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00FFFF"/>
                </a:solidFill>
              </a:defRPr>
            </a:pPr>
            <a:r>
              <a:t>CO1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Data Understanding &amp; Preprocessing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CO1: Data Understanding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Key Preprocessing Steps: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Loaded via pd.read_csv('insurance.csv'). Shape: 1,338 rows x 7 columns.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0 missing values. 1 duplicate record identified and dropped.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Outlier Identification (IQR Method):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  - age: 0 outliers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  - bmi: 9 outliers (mildly high BMI values)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  - charges: 139 outliers (reflecting extreme medical claims)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Categorical Encoding: Applied mapping/dummy variables to sex, smoker, and region.</a:t>
            </a:r>
          </a:p>
        </p:txBody>
      </p:sp>
      <p:pic>
        <p:nvPicPr>
          <p:cNvPr id="5" name="Picture 4" descr="co1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10972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828800" y="2286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00FFFF"/>
                </a:solidFill>
              </a:defRPr>
            </a:pPr>
            <a:r>
              <a:t>CO2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Descriptive Statistics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CO2: Descriptive Statistics for Charges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FFFFFF"/>
                </a:solidFill>
              </a:defRPr>
            </a:pPr>
            <a:r>
              <a:t>• Mean charges: $13,279.12 | Median charges: $9,386.16 | Mode: $1,121.87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Range: $62,648.55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Standard Deviation: $12,110.36 | Variance: $146,660,811.01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Q1 (25%): $4,746.34 | Q2 (50%): $9,386.16 | Q3 (75%): $16,657.72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IQR: $11,911.37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Skewness = 1.5154 (strong right skew) | Kurtosis = 1.6042 (leptokurtic)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Key Insight: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Mean &gt; Median confirms a right-skewed distribution driven by a subset of patients with high-cost medical claims.</a:t>
            </a:r>
          </a:p>
        </p:txBody>
      </p:sp>
      <p:pic>
        <p:nvPicPr>
          <p:cNvPr id="5" name="Picture 4" descr="co2_descriptive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9144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828800" y="2286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00FFFF"/>
                </a:solidFill>
              </a:defRPr>
            </a:pPr>
            <a:r>
              <a:t>CO3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Probability and Distributions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CO3: Probability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Event Definitions: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High Charge = charges &gt; Q3 ($16,658)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Basic Probabilities: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P(High Charge) = 0.2498 | P(Smoker) = 0.2049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Conditional Probabilities: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P(High Charge | Smoker) = 0.9270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P(Smoker | High Charge) = 0.7605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Bayes' Theorem: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P(Smoker|High) = [P(High|Smoker) x P(Smoker)] / P(High)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= [0.9270 x 0.2049] / 0.2498 = 0.7605 (verified)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CO3: Bernoulli, Binomial &amp; Normal Dist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Bernoulli (Smoker Status):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p = 0.2049, q = 0.7951. Mean = 0.2049, Variance = 0.1629.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Binomial (Smoker count in a random sample of n=10):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Expected smokers = 2.05. Most likely outcome is exactly 2 smokers (P(X=2) = 0.3018).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Normal Distribution (Charges Approximation):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Approximating charges using mu = $13,279.12 and sigma = $12,110.36: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P(Charges &lt; $10,000) = 0.3933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P(Charges &lt; $20,000) = 0.7105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P(Charges &gt; $30,000) = 0.0837</a:t>
            </a:r>
          </a:p>
        </p:txBody>
      </p:sp>
      <p:pic>
        <p:nvPicPr>
          <p:cNvPr id="5" name="Picture 4" descr="co3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9144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828800" y="2286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00FFFF"/>
                </a:solidFill>
              </a:defRPr>
            </a:pPr>
            <a:r>
              <a:t>CO4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Statistical Inference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CO4: Confidence Intervals &amp; Hypothesis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Sampling Distribution (n=50):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Mean of sample means = $13,275.03, Standard Error = $331.20.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95% Confidence Interval: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CI = [$12,629.97, $13,928.27]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Two-Sample t-Test (Smokers vs Non-Smokers):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H0: mu_smoker = mu_non-smoker | H1: mu_smoker != mu_non-smoker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Smoker Mean = $32,050.23 | Non-Smoker Mean = $8,440.66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t-statistic = 46.6448, p-value = 1.41e-282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Decision: Strongly REJECT H0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Inference Errors: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Type I Error (alpha) = 0.05, Type II Error (beta) = 0.20, Power of Test = 0.80</a:t>
            </a:r>
          </a:p>
        </p:txBody>
      </p:sp>
      <p:pic>
        <p:nvPicPr>
          <p:cNvPr id="5" name="Picture 4" descr="co4_in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9144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828800" y="2286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00FFFF"/>
                </a:solidFill>
              </a:defRPr>
            </a:pPr>
            <a:r>
              <a:t>CO5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Correlation and Regression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CO5: Correlation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Correlation with Charges: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smoker: r = +0.7872 (Strong positive correlation)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age: r = +0.2990 (Weak-to-moderate positive correlation)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bmi: r = +0.1983 (Weak positive correlation)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children: r = +0.0680 (Negligible correlation)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Key Finding: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Smoking status is by far the most dominant linear predictor of insurance charges.</a:t>
            </a:r>
          </a:p>
        </p:txBody>
      </p:sp>
      <p:pic>
        <p:nvPicPr>
          <p:cNvPr id="5" name="Picture 4" descr="co5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CO5: Simple Linear Regression (Age vs Charges)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Regression Details: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Equation: Charges = 257.72 x Age + 3165.89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Interpretation: For every 1-year increase in age, medical charges increase by an average of $257.72.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R² = 0.0894 (Age alone explains only 8.9% of the variance in charges).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Residual Diagnostics: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Mean of residuals is approximately 0.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Residuals fail normality test, indicating non-linearity and missing factors (like smoking status).</a:t>
            </a:r>
          </a:p>
        </p:txBody>
      </p:sp>
      <p:pic>
        <p:nvPicPr>
          <p:cNvPr id="5" name="Picture 4" descr="co5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828800" y="2286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00FFFF"/>
                </a:solidFill>
              </a:defRPr>
            </a:pPr>
            <a:r>
              <a:t>CO6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Evaluation, Visualization &amp; Decision Making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CO6: Multiple Linear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Model Setup: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Train/Test: 80/20 (1070 train / 268 test). Features: age, sex, bmi, children, smoker, region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Performance Metrics: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MSE: 33,635,210.43 | RMSE: $5,800.00 | MAE: $4,186.51 | R²: 0.7827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Model explains 78.3% of the variance in charges.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Feature Coefficients: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smoker(yes): +$23,647.78 | children: +$425.23 | bmi: +$335.56 | age: +$256.86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Predictive Equation: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Charges = -11,947 + 257xage + 336xbmi + 425xchildren + 23,648xsmoker</a:t>
            </a:r>
          </a:p>
        </p:txBody>
      </p:sp>
      <p:pic>
        <p:nvPicPr>
          <p:cNvPr id="5" name="Picture 4" descr="co6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CO6: Key Visualizations &amp;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BMI vs. Charges (3 Distinct Clusters):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1. Low-cost band: Non-smokers (under $15,000).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2. Medium-cost band: Smokers with BMI &lt; 30 ($15,000 - $30,000).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3. High-cost/High-risk band: Smokers with BMI &gt;= 30 (exceeding $30,000).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Age vs. Charges: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Three distinct parallel linear bands corresponding to healthy habits, moderate risk, and extreme risk.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Smokers vs. Non-Smokers: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Median charge for smokers is ~$34,000 compared to ~$7,500 for non-smokers (4.5x difference).</a:t>
            </a:r>
          </a:p>
        </p:txBody>
      </p:sp>
      <p:pic>
        <p:nvPicPr>
          <p:cNvPr id="5" name="Picture 4" descr="co6_bmi_vs_char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Conclusion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Key Conclusions: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Smoking is the single greatest risk factor, followed by age and BMI.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The multiple linear regression model is highly robust, explaining 78.3% of premium variance.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Recommendations for Insurance Underwriting: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Implement tiered pricing surcharges specifically targeting smokers.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Establish premium escalation pathways based on age-risk bands.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Introduce wellness incentives for lowering BMI or smoking cessation.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Future Scope: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Deploy Random Forest or XGBoost to capture interaction effects.</a:t>
            </a:r>
          </a:p>
          <a:p>
            <a:pPr lvl="1">
              <a:defRPr sz="1600">
                <a:solidFill>
                  <a:srgbClr val="FFFFFF"/>
                </a:solidFill>
              </a:defRPr>
            </a:pPr>
            <a:r>
              <a:t>• Build a real-time web application for interactive premium pricing.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400">
                <a:solidFill>
                  <a:srgbClr val="00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MDSA Capstone Project | Insurance Claim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ECC71"/>
                </a:solidFill>
              </a:defRPr>
            </a:pPr>
            <a:r>
              <a:t>All code scripts, statistical outputs, and visualization assets are available in the project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